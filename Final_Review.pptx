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7" r:id="rId2"/>
    <p:sldId id="258" r:id="rId3"/>
    <p:sldId id="259" r:id="rId4"/>
    <p:sldId id="260" r:id="rId5"/>
    <p:sldId id="262" r:id="rId6"/>
    <p:sldId id="261" r:id="rId7"/>
    <p:sldId id="263" r:id="rId8"/>
    <p:sldId id="264" r:id="rId9"/>
    <p:sldId id="265" r:id="rId10"/>
    <p:sldId id="305" r:id="rId11"/>
    <p:sldId id="308" r:id="rId12"/>
    <p:sldId id="269" r:id="rId13"/>
    <p:sldId id="270" r:id="rId14"/>
    <p:sldId id="282" r:id="rId15"/>
    <p:sldId id="277" r:id="rId16"/>
    <p:sldId id="275" r:id="rId17"/>
    <p:sldId id="284" r:id="rId18"/>
    <p:sldId id="285" r:id="rId19"/>
    <p:sldId id="286" r:id="rId20"/>
    <p:sldId id="292" r:id="rId21"/>
    <p:sldId id="271" r:id="rId22"/>
    <p:sldId id="272" r:id="rId23"/>
    <p:sldId id="304" r:id="rId24"/>
    <p:sldId id="303" r:id="rId25"/>
    <p:sldId id="281" r:id="rId26"/>
    <p:sldId id="289" r:id="rId27"/>
    <p:sldId id="290" r:id="rId28"/>
    <p:sldId id="309" r:id="rId29"/>
    <p:sldId id="279" r:id="rId30"/>
    <p:sldId id="310" r:id="rId31"/>
    <p:sldId id="294" r:id="rId32"/>
    <p:sldId id="311" r:id="rId33"/>
    <p:sldId id="273" r:id="rId34"/>
    <p:sldId id="296" r:id="rId35"/>
    <p:sldId id="274" r:id="rId36"/>
    <p:sldId id="312" r:id="rId37"/>
    <p:sldId id="313" r:id="rId38"/>
    <p:sldId id="283" r:id="rId39"/>
    <p:sldId id="287" r:id="rId40"/>
    <p:sldId id="288" r:id="rId41"/>
    <p:sldId id="314" r:id="rId42"/>
    <p:sldId id="267" r:id="rId43"/>
    <p:sldId id="26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3" d="100"/>
          <a:sy n="73" d="100"/>
        </p:scale>
        <p:origin x="36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956726-DE33-4D5B-8A60-503D6B3B5E7C}" type="datetimeFigureOut">
              <a:rPr lang="en-IN" smtClean="0"/>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1D5DC-0490-427C-9B5E-021D5D5D838C}" type="slidenum">
              <a:rPr lang="en-IN" smtClean="0"/>
              <a:t>‹#›</a:t>
            </a:fld>
            <a:endParaRPr lang="en-IN"/>
          </a:p>
        </p:txBody>
      </p:sp>
    </p:spTree>
    <p:extLst>
      <p:ext uri="{BB962C8B-B14F-4D97-AF65-F5344CB8AC3E}">
        <p14:creationId xmlns:p14="http://schemas.microsoft.com/office/powerpoint/2010/main" val="1765751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5236C0-4AED-4849-B5D4-C4C6A2D2D527}" type="slidenum">
              <a:rPr lang="en-IN" smtClean="0"/>
              <a:t>9</a:t>
            </a:fld>
            <a:endParaRPr lang="en-IN"/>
          </a:p>
        </p:txBody>
      </p:sp>
    </p:spTree>
    <p:extLst>
      <p:ext uri="{BB962C8B-B14F-4D97-AF65-F5344CB8AC3E}">
        <p14:creationId xmlns:p14="http://schemas.microsoft.com/office/powerpoint/2010/main" val="3522316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27154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48361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1960489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2810909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D407AF-7D1D-4F14-81EE-6E31297CF597}" type="datetimeFigureOut">
              <a:rPr lang="en-IN" smtClean="0"/>
              <a:t>12-06-2025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137625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D407AF-7D1D-4F14-81EE-6E31297CF597}" type="datetimeFigureOut">
              <a:rPr lang="en-IN" smtClean="0"/>
              <a:t>12-06-2025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142324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407AF-7D1D-4F14-81EE-6E31297CF597}" type="datetimeFigureOut">
              <a:rPr lang="en-IN" smtClean="0"/>
              <a:t>12-06-2025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3680865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3286046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24050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2030264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C1FCD5-B6E0-4557-9DFB-674C64FA4EA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77154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514380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C1FCD5-B6E0-4557-9DFB-674C64FA4EA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61931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D407AF-7D1D-4F14-81EE-6E31297CF597}"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654493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787552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D407AF-7D1D-4F14-81EE-6E31297CF597}"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C1FCD5-B6E0-4557-9DFB-674C64FA4EA0}" type="slidenum">
              <a:rPr lang="en-IN" smtClean="0"/>
              <a:t>‹#›</a:t>
            </a:fld>
            <a:endParaRPr lang="en-IN"/>
          </a:p>
        </p:txBody>
      </p:sp>
    </p:spTree>
    <p:extLst>
      <p:ext uri="{BB962C8B-B14F-4D97-AF65-F5344CB8AC3E}">
        <p14:creationId xmlns:p14="http://schemas.microsoft.com/office/powerpoint/2010/main" val="2091586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D407AF-7D1D-4F14-81EE-6E31297CF597}" type="datetimeFigureOut">
              <a:rPr lang="en-IN" smtClean="0"/>
              <a:t>12-06-2025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2C1FCD5-B6E0-4557-9DFB-674C64FA4EA0}" type="slidenum">
              <a:rPr lang="en-IN" smtClean="0"/>
              <a:t>‹#›</a:t>
            </a:fld>
            <a:endParaRPr lang="en-IN"/>
          </a:p>
        </p:txBody>
      </p:sp>
    </p:spTree>
    <p:extLst>
      <p:ext uri="{BB962C8B-B14F-4D97-AF65-F5344CB8AC3E}">
        <p14:creationId xmlns:p14="http://schemas.microsoft.com/office/powerpoint/2010/main" val="1461219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472B-C7EE-82DC-53E5-5E0EBBEBC686}"/>
              </a:ext>
            </a:extLst>
          </p:cNvPr>
          <p:cNvSpPr>
            <a:spLocks noGrp="1"/>
          </p:cNvSpPr>
          <p:nvPr>
            <p:ph type="ctrTitle"/>
          </p:nvPr>
        </p:nvSpPr>
        <p:spPr>
          <a:xfrm>
            <a:off x="1767840" y="252550"/>
            <a:ext cx="10171612" cy="2090056"/>
          </a:xfrm>
        </p:spPr>
        <p:txBody>
          <a:bodyPr>
            <a:norm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p>
        </p:txBody>
      </p:sp>
      <p:sp>
        <p:nvSpPr>
          <p:cNvPr id="3" name="Subtitle 2">
            <a:extLst>
              <a:ext uri="{FF2B5EF4-FFF2-40B4-BE49-F238E27FC236}">
                <a16:creationId xmlns:a16="http://schemas.microsoft.com/office/drawing/2014/main" id="{18815C69-FBCA-5254-8703-AD0606C21C6E}"/>
              </a:ext>
            </a:extLst>
          </p:cNvPr>
          <p:cNvSpPr>
            <a:spLocks noGrp="1"/>
          </p:cNvSpPr>
          <p:nvPr>
            <p:ph type="subTitle" idx="1"/>
          </p:nvPr>
        </p:nvSpPr>
        <p:spPr>
          <a:xfrm>
            <a:off x="2168435" y="2899955"/>
            <a:ext cx="9701348" cy="2717074"/>
          </a:xfrm>
        </p:spPr>
        <p:txBody>
          <a:bodyPr>
            <a:normAutofit fontScale="85000" lnSpcReduction="20000"/>
          </a:bodyPr>
          <a:lstStyle/>
          <a:p>
            <a:r>
              <a:rPr lang="en-IN" dirty="0"/>
              <a:t>          </a:t>
            </a:r>
            <a:r>
              <a:rPr lang="en-IN" sz="2200" b="1" dirty="0">
                <a:solidFill>
                  <a:srgbClr val="002060"/>
                </a:solidFill>
                <a:latin typeface="Times New Roman" panose="02020603050405020304" pitchFamily="18" charset="0"/>
                <a:cs typeface="Times New Roman" panose="02020603050405020304" pitchFamily="18" charset="0"/>
              </a:rPr>
              <a:t>GUIDE</a:t>
            </a:r>
          </a:p>
          <a:p>
            <a:r>
              <a:rPr lang="en-IN" sz="2000" b="1" dirty="0">
                <a:solidFill>
                  <a:srgbClr val="FF0000"/>
                </a:solidFill>
                <a:latin typeface="Times New Roman" panose="02020603050405020304" pitchFamily="18" charset="0"/>
                <a:cs typeface="Times New Roman" panose="02020603050405020304" pitchFamily="18" charset="0"/>
              </a:rPr>
              <a:t>Dr.B.HEMANTHA KUMAR</a:t>
            </a:r>
          </a:p>
          <a:p>
            <a:endParaRPr lang="en-IN" sz="2000" b="1" dirty="0">
              <a:solidFill>
                <a:srgbClr val="FF0000"/>
              </a:solidFill>
            </a:endParaRPr>
          </a:p>
          <a:p>
            <a:r>
              <a:rPr lang="en-IN" sz="2000" b="1" dirty="0">
                <a:solidFill>
                  <a:srgbClr val="FF0000"/>
                </a:solidFill>
              </a:rPr>
              <a:t>                                                                                                   </a:t>
            </a:r>
            <a:r>
              <a:rPr lang="en-IN" sz="2200" b="1" dirty="0">
                <a:solidFill>
                  <a:srgbClr val="002060"/>
                </a:solidFill>
                <a:latin typeface="Times New Roman" panose="02020603050405020304" pitchFamily="18" charset="0"/>
                <a:cs typeface="Times New Roman" panose="02020603050405020304" pitchFamily="18" charset="0"/>
              </a:rPr>
              <a:t>TEAM-1</a:t>
            </a:r>
          </a:p>
          <a:p>
            <a:r>
              <a:rPr lang="en-IN" sz="20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G VISHNU KAIVALYA-Y21IT040 </a:t>
            </a:r>
          </a:p>
          <a:p>
            <a:r>
              <a:rPr lang="en-IN" sz="2000" b="1" dirty="0">
                <a:solidFill>
                  <a:srgbClr val="C00000"/>
                </a:solidFill>
                <a:latin typeface="Times New Roman" panose="02020603050405020304" pitchFamily="18" charset="0"/>
                <a:cs typeface="Times New Roman" panose="02020603050405020304" pitchFamily="18" charset="0"/>
              </a:rPr>
              <a:t>                                                                                        G B HARSHA VARDHAN-Y21IT039 </a:t>
            </a:r>
          </a:p>
          <a:p>
            <a:r>
              <a:rPr lang="en-IN" sz="2000" b="1" dirty="0">
                <a:solidFill>
                  <a:srgbClr val="C00000"/>
                </a:solidFill>
                <a:latin typeface="Times New Roman" panose="02020603050405020304" pitchFamily="18" charset="0"/>
                <a:cs typeface="Times New Roman" panose="02020603050405020304" pitchFamily="18" charset="0"/>
              </a:rPr>
              <a:t>                                                                                        K KIRAN –L22IT138</a:t>
            </a:r>
            <a:endParaRPr lang="en-US" sz="2000" b="1" spc="269" dirty="0">
              <a:solidFill>
                <a:srgbClr val="C00000"/>
              </a:solidFill>
              <a:latin typeface="Times New Roman" panose="02020603050405020304" pitchFamily="18" charset="0"/>
              <a:cs typeface="Times New Roman" panose="02020603050405020304" pitchFamily="18" charset="0"/>
            </a:endParaRPr>
          </a:p>
          <a:p>
            <a:r>
              <a:rPr lang="en-US" sz="2000" b="1" spc="269" dirty="0">
                <a:solidFill>
                  <a:srgbClr val="F35000"/>
                </a:solidFill>
                <a:latin typeface="Times New Roman" panose="02020603050405020304" pitchFamily="18" charset="0"/>
                <a:cs typeface="Times New Roman" panose="02020603050405020304" pitchFamily="18" charset="0"/>
              </a:rPr>
              <a:t>                                                 </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3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B443-93B7-7304-C1AD-02A633B9FC16}"/>
              </a:ext>
            </a:extLst>
          </p:cNvPr>
          <p:cNvSpPr>
            <a:spLocks noGrp="1"/>
          </p:cNvSpPr>
          <p:nvPr>
            <p:ph type="title"/>
          </p:nvPr>
        </p:nvSpPr>
        <p:spPr>
          <a:xfrm>
            <a:off x="2494954" y="664028"/>
            <a:ext cx="8911687" cy="870857"/>
          </a:xfrm>
        </p:spPr>
        <p:txBody>
          <a:bodyPr/>
          <a:lstStyle/>
          <a:p>
            <a:r>
              <a:rPr lang="en-IN" b="1">
                <a:solidFill>
                  <a:srgbClr val="002060"/>
                </a:solidFill>
                <a:latin typeface="Times New Roman" panose="02020603050405020304" pitchFamily="18" charset="0"/>
                <a:cs typeface="Times New Roman" panose="02020603050405020304" pitchFamily="18" charset="0"/>
              </a:rPr>
              <a:t>CONTENTS</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5C27AC-B4F5-C1B6-E41F-A05B493D7B6A}"/>
              </a:ext>
            </a:extLst>
          </p:cNvPr>
          <p:cNvSpPr>
            <a:spLocks noGrp="1"/>
          </p:cNvSpPr>
          <p:nvPr>
            <p:ph idx="1"/>
          </p:nvPr>
        </p:nvSpPr>
        <p:spPr>
          <a:xfrm>
            <a:off x="2654526" y="1540189"/>
            <a:ext cx="8915400" cy="3777622"/>
          </a:xfrm>
        </p:spPr>
        <p:txBody>
          <a:bodyPr>
            <a:normAutofit fontScale="92500" lnSpcReduction="20000"/>
          </a:bodyPr>
          <a:lstStyle/>
          <a:p>
            <a:r>
              <a:rPr lang="en-IN" sz="2400" dirty="0">
                <a:latin typeface="Times New Roman" panose="02020603050405020304" pitchFamily="18" charset="0"/>
                <a:cs typeface="Times New Roman" panose="02020603050405020304" pitchFamily="18" charset="0"/>
              </a:rPr>
              <a:t>Abstract</a:t>
            </a:r>
          </a:p>
          <a:p>
            <a:r>
              <a:rPr lang="en-IN" sz="2400" dirty="0">
                <a:latin typeface="Times New Roman" panose="02020603050405020304" pitchFamily="18" charset="0"/>
                <a:cs typeface="Times New Roman" panose="02020603050405020304" pitchFamily="18" charset="0"/>
              </a:rPr>
              <a:t>Keywords</a:t>
            </a:r>
          </a:p>
          <a:p>
            <a:r>
              <a:rPr lang="en-IN" sz="2400" dirty="0">
                <a:latin typeface="Times New Roman" panose="02020603050405020304" pitchFamily="18" charset="0"/>
                <a:cs typeface="Times New Roman" panose="02020603050405020304" pitchFamily="18" charset="0"/>
              </a:rPr>
              <a:t>List of Literature Survey</a:t>
            </a:r>
          </a:p>
          <a:p>
            <a:r>
              <a:rPr lang="en-IN" sz="2400" dirty="0">
                <a:latin typeface="Times New Roman" panose="02020603050405020304" pitchFamily="18" charset="0"/>
                <a:cs typeface="Times New Roman" panose="02020603050405020304" pitchFamily="18" charset="0"/>
              </a:rPr>
              <a:t>Existing Method 1</a:t>
            </a:r>
          </a:p>
          <a:p>
            <a:r>
              <a:rPr lang="en-IN" sz="2400" dirty="0">
                <a:latin typeface="Times New Roman" panose="02020603050405020304" pitchFamily="18" charset="0"/>
                <a:cs typeface="Times New Roman" panose="02020603050405020304" pitchFamily="18" charset="0"/>
              </a:rPr>
              <a:t>Existing Method 2</a:t>
            </a:r>
          </a:p>
          <a:p>
            <a:r>
              <a:rPr lang="en-IN" sz="2400" dirty="0">
                <a:latin typeface="Times New Roman" panose="02020603050405020304" pitchFamily="18" charset="0"/>
                <a:cs typeface="Times New Roman" panose="02020603050405020304" pitchFamily="18" charset="0"/>
              </a:rPr>
              <a:t>Proposed Method</a:t>
            </a:r>
          </a:p>
          <a:p>
            <a:r>
              <a:rPr lang="en-IN" sz="2400" dirty="0">
                <a:latin typeface="Times New Roman" panose="02020603050405020304" pitchFamily="18" charset="0"/>
                <a:cs typeface="Times New Roman" panose="02020603050405020304" pitchFamily="18" charset="0"/>
              </a:rPr>
              <a:t>Results &amp; Discussion</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65626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023A-DF1D-8B18-D22B-2A75BA74EB67}"/>
              </a:ext>
            </a:extLst>
          </p:cNvPr>
          <p:cNvSpPr>
            <a:spLocks noGrp="1"/>
          </p:cNvSpPr>
          <p:nvPr>
            <p:ph type="title"/>
          </p:nvPr>
        </p:nvSpPr>
        <p:spPr>
          <a:xfrm>
            <a:off x="2111829" y="624110"/>
            <a:ext cx="9392783" cy="838930"/>
          </a:xfrm>
        </p:spPr>
        <p:txBody>
          <a:bodyPr/>
          <a:lstStyle/>
          <a:p>
            <a:r>
              <a:rPr lang="en-IN" b="1" dirty="0">
                <a:solidFill>
                  <a:srgbClr val="00206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74FD084-C691-D248-15D8-416F3C83FF41}"/>
              </a:ext>
            </a:extLst>
          </p:cNvPr>
          <p:cNvSpPr>
            <a:spLocks noGrp="1"/>
          </p:cNvSpPr>
          <p:nvPr>
            <p:ph idx="1"/>
          </p:nvPr>
        </p:nvSpPr>
        <p:spPr>
          <a:xfrm>
            <a:off x="2024743" y="1828800"/>
            <a:ext cx="9479869" cy="4082422"/>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With the development of cloud storage and privacy protection, reversible data hiding in encrypted images (RDHEI) has attracted increasing attention as a technology that can embed additional data in the image encryption domain, ensure that the embedded data can be extracted error-free, and the original image can be restored losslessly. In this paper, a high-capacity RDHEI algorithm based on multi-MSB (most significant bit) prediction and Huffman coding is proposed. At first, multi-MSB of each pixel was predicted adaptively and marked by Huffman coding in the original image. Then, the image was encrypted by a stream cipher method. At last, the vacated space can be used to embed additional data by multi-MSB substitution. Experimental results show that our method achieved higher embedding capacity while comparing with the state-of-the-art methods.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7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97E35-60BB-B144-0ADE-F64A23FAF6F7}"/>
              </a:ext>
            </a:extLst>
          </p:cNvPr>
          <p:cNvSpPr>
            <a:spLocks noGrp="1"/>
          </p:cNvSpPr>
          <p:nvPr>
            <p:ph type="title"/>
          </p:nvPr>
        </p:nvSpPr>
        <p:spPr/>
        <p:txBody>
          <a:bodyPr/>
          <a:lstStyle/>
          <a:p>
            <a:r>
              <a:rPr lang="en-IN" b="1" dirty="0">
                <a:solidFill>
                  <a:srgbClr val="002060"/>
                </a:solidFill>
                <a:latin typeface="Times New Roman" panose="02020603050405020304" pitchFamily="18" charset="0"/>
                <a:cs typeface="Times New Roman" panose="02020603050405020304" pitchFamily="18" charset="0"/>
              </a:rPr>
              <a:t>KEYWORDS</a:t>
            </a:r>
          </a:p>
        </p:txBody>
      </p:sp>
      <p:sp>
        <p:nvSpPr>
          <p:cNvPr id="3" name="Content Placeholder 2">
            <a:extLst>
              <a:ext uri="{FF2B5EF4-FFF2-40B4-BE49-F238E27FC236}">
                <a16:creationId xmlns:a16="http://schemas.microsoft.com/office/drawing/2014/main" id="{E1FB7D25-F40C-3D0E-8E8A-D3C318C59ED1}"/>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Reversible data hiding</a:t>
            </a:r>
          </a:p>
          <a:p>
            <a:r>
              <a:rPr lang="en-IN" sz="2400" dirty="0">
                <a:latin typeface="Times New Roman" panose="02020603050405020304" pitchFamily="18" charset="0"/>
                <a:cs typeface="Times New Roman" panose="02020603050405020304" pitchFamily="18" charset="0"/>
              </a:rPr>
              <a:t>Encrypted images</a:t>
            </a:r>
          </a:p>
          <a:p>
            <a:r>
              <a:rPr lang="en-IN" sz="2400" dirty="0">
                <a:latin typeface="Times New Roman" panose="02020603050405020304" pitchFamily="18" charset="0"/>
                <a:cs typeface="Times New Roman" panose="02020603050405020304" pitchFamily="18" charset="0"/>
              </a:rPr>
              <a:t>Privacy protection</a:t>
            </a:r>
          </a:p>
          <a:p>
            <a:r>
              <a:rPr lang="en-IN" sz="2400" dirty="0">
                <a:latin typeface="Times New Roman" panose="02020603050405020304" pitchFamily="18" charset="0"/>
                <a:cs typeface="Times New Roman" panose="02020603050405020304" pitchFamily="18" charset="0"/>
              </a:rPr>
              <a:t>Huffman Coding</a:t>
            </a:r>
          </a:p>
        </p:txBody>
      </p:sp>
    </p:spTree>
    <p:extLst>
      <p:ext uri="{BB962C8B-B14F-4D97-AF65-F5344CB8AC3E}">
        <p14:creationId xmlns:p14="http://schemas.microsoft.com/office/powerpoint/2010/main" val="276102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571C-2A7A-ADFA-6809-35EA6AC04223}"/>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REVERSIBLE DATA HIDING:</a:t>
            </a:r>
          </a:p>
        </p:txBody>
      </p:sp>
      <p:sp>
        <p:nvSpPr>
          <p:cNvPr id="3" name="Content Placeholder 2">
            <a:extLst>
              <a:ext uri="{FF2B5EF4-FFF2-40B4-BE49-F238E27FC236}">
                <a16:creationId xmlns:a16="http://schemas.microsoft.com/office/drawing/2014/main" id="{56836FAC-2F99-A7F2-366E-45173ED43E50}"/>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This technique allows additional data to be embedded within an image while ensuring that the original image can be perfectly restored without any loss. The embedded data can be extracted without error, maintaining the integrity of the image</a:t>
            </a:r>
            <a:r>
              <a:rPr lang="en-US" dirty="0"/>
              <a:t>.</a:t>
            </a:r>
            <a:endParaRPr lang="en-IN" dirty="0"/>
          </a:p>
        </p:txBody>
      </p:sp>
    </p:spTree>
    <p:extLst>
      <p:ext uri="{BB962C8B-B14F-4D97-AF65-F5344CB8AC3E}">
        <p14:creationId xmlns:p14="http://schemas.microsoft.com/office/powerpoint/2010/main" val="292159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86F9-3833-68D6-F3AE-F6AFF4F98783}"/>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ENCRYPTED IMAGES</a:t>
            </a:r>
            <a:r>
              <a:rPr lang="en-IN" b="1" dirty="0">
                <a:solidFill>
                  <a:srgbClr val="7030A0"/>
                </a:solidFill>
              </a:rPr>
              <a:t>:</a:t>
            </a:r>
          </a:p>
        </p:txBody>
      </p:sp>
      <p:sp>
        <p:nvSpPr>
          <p:cNvPr id="3" name="Content Placeholder 2">
            <a:extLst>
              <a:ext uri="{FF2B5EF4-FFF2-40B4-BE49-F238E27FC236}">
                <a16:creationId xmlns:a16="http://schemas.microsoft.com/office/drawing/2014/main" id="{E4F68614-A525-CD58-6F02-F6D86DB78076}"/>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Encrypted images are images that have been transformed using encryption algorithms, making them unreadable to unauthorized parties. This ensures the security and privacy of the image content during storage or transmission.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435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CD66D-F363-3FA7-4161-D40B6BADE466}"/>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PRIVACY PROTECTION</a:t>
            </a:r>
            <a:r>
              <a:rPr lang="en-IN" b="1" dirty="0">
                <a:solidFill>
                  <a:srgbClr val="7030A0"/>
                </a:solidFill>
              </a:rPr>
              <a:t>:</a:t>
            </a:r>
          </a:p>
        </p:txBody>
      </p:sp>
      <p:sp>
        <p:nvSpPr>
          <p:cNvPr id="3" name="Content Placeholder 2">
            <a:extLst>
              <a:ext uri="{FF2B5EF4-FFF2-40B4-BE49-F238E27FC236}">
                <a16:creationId xmlns:a16="http://schemas.microsoft.com/office/drawing/2014/main" id="{7081FFA0-F0D9-AE37-76B3-9C48415D8D1A}"/>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Privacy protection refers to measures taken to safeguard sensitive or personal information from unauthorized access or exposure. In the context of RDHEI, it involves securing the embedded data and image content through encryption.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59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FF8F-86FD-4319-81D6-B42365C9824B}"/>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HUFFMAN CODING:</a:t>
            </a:r>
          </a:p>
        </p:txBody>
      </p:sp>
      <p:sp>
        <p:nvSpPr>
          <p:cNvPr id="3" name="Content Placeholder 2">
            <a:extLst>
              <a:ext uri="{FF2B5EF4-FFF2-40B4-BE49-F238E27FC236}">
                <a16:creationId xmlns:a16="http://schemas.microsoft.com/office/drawing/2014/main" id="{EA98CEFE-57C6-F0CB-C75B-B0FC9F813083}"/>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Huffman coding is a lossless data compression technique that assigns shorter binary codes to more frequent data symbols and longer codes to less frequent ones, efficiently compressing the data while allowing for perfect reconstruction of the original data.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66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3CAC-7401-21FF-6E48-0968CA665D20}"/>
              </a:ext>
            </a:extLst>
          </p:cNvPr>
          <p:cNvSpPr>
            <a:spLocks noGrp="1"/>
          </p:cNvSpPr>
          <p:nvPr>
            <p:ph type="title"/>
          </p:nvPr>
        </p:nvSpPr>
        <p:spPr>
          <a:xfrm>
            <a:off x="2031819" y="624110"/>
            <a:ext cx="9472794" cy="711530"/>
          </a:xfrm>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4A7751FD-0735-5005-5895-0273FC1269F0}"/>
              </a:ext>
            </a:extLst>
          </p:cNvPr>
          <p:cNvGraphicFramePr>
            <a:graphicFrameLocks noGrp="1"/>
          </p:cNvGraphicFramePr>
          <p:nvPr>
            <p:ph idx="1"/>
          </p:nvPr>
        </p:nvGraphicFramePr>
        <p:xfrm>
          <a:off x="2031819" y="2159277"/>
          <a:ext cx="9280615" cy="3259864"/>
        </p:xfrm>
        <a:graphic>
          <a:graphicData uri="http://schemas.openxmlformats.org/drawingml/2006/table">
            <a:tbl>
              <a:tblPr firstRow="1" bandRow="1">
                <a:tableStyleId>{5C22544A-7EE6-4342-B048-85BDC9FD1C3A}</a:tableStyleId>
              </a:tblPr>
              <a:tblGrid>
                <a:gridCol w="1950718">
                  <a:extLst>
                    <a:ext uri="{9D8B030D-6E8A-4147-A177-3AD203B41FA5}">
                      <a16:colId xmlns:a16="http://schemas.microsoft.com/office/drawing/2014/main" val="1238626163"/>
                    </a:ext>
                  </a:extLst>
                </a:gridCol>
                <a:gridCol w="3672158">
                  <a:extLst>
                    <a:ext uri="{9D8B030D-6E8A-4147-A177-3AD203B41FA5}">
                      <a16:colId xmlns:a16="http://schemas.microsoft.com/office/drawing/2014/main" val="636017730"/>
                    </a:ext>
                  </a:extLst>
                </a:gridCol>
                <a:gridCol w="3657739">
                  <a:extLst>
                    <a:ext uri="{9D8B030D-6E8A-4147-A177-3AD203B41FA5}">
                      <a16:colId xmlns:a16="http://schemas.microsoft.com/office/drawing/2014/main" val="2473434736"/>
                    </a:ext>
                  </a:extLst>
                </a:gridCol>
              </a:tblGrid>
              <a:tr h="457417">
                <a:tc>
                  <a:txBody>
                    <a:bodyPr/>
                    <a:lstStyle/>
                    <a:p>
                      <a:r>
                        <a:rPr lang="en-IN" dirty="0"/>
                        <a:t>CONTEXT</a:t>
                      </a:r>
                    </a:p>
                  </a:txBody>
                  <a:tcPr/>
                </a:tc>
                <a:tc>
                  <a:txBody>
                    <a:bodyPr/>
                    <a:lstStyle/>
                    <a:p>
                      <a:r>
                        <a:rPr lang="en-IN" dirty="0"/>
                        <a:t>METHOD-1</a:t>
                      </a:r>
                    </a:p>
                  </a:txBody>
                  <a:tcPr/>
                </a:tc>
                <a:tc>
                  <a:txBody>
                    <a:bodyPr/>
                    <a:lstStyle/>
                    <a:p>
                      <a:r>
                        <a:rPr lang="en-IN" dirty="0"/>
                        <a:t>METHOD-2</a:t>
                      </a:r>
                    </a:p>
                  </a:txBody>
                  <a:tcPr/>
                </a:tc>
                <a:extLst>
                  <a:ext uri="{0D108BD9-81ED-4DB2-BD59-A6C34878D82A}">
                    <a16:rowId xmlns:a16="http://schemas.microsoft.com/office/drawing/2014/main" val="658236203"/>
                  </a:ext>
                </a:extLst>
              </a:tr>
              <a:tr h="1240411">
                <a:tc>
                  <a:txBody>
                    <a:bodyPr/>
                    <a:lstStyle/>
                    <a:p>
                      <a:r>
                        <a:rPr lang="en-IN" dirty="0">
                          <a:latin typeface="Times New Roman" panose="02020603050405020304" pitchFamily="18" charset="0"/>
                          <a:cs typeface="Times New Roman" panose="02020603050405020304" pitchFamily="18" charset="0"/>
                        </a:rPr>
                        <a:t>Name</a:t>
                      </a:r>
                    </a:p>
                  </a:txBody>
                  <a:tcPr/>
                </a:tc>
                <a:tc>
                  <a:txBody>
                    <a:bodyPr/>
                    <a:lstStyle/>
                    <a:p>
                      <a:pPr algn="just"/>
                      <a:r>
                        <a:rPr lang="en-US"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Separable and Reversible Data Hiding in Encrypted Images using Parametric Binary Tree Labeling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0632922"/>
                  </a:ext>
                </a:extLst>
              </a:tr>
              <a:tr h="698270">
                <a:tc>
                  <a:txBody>
                    <a:bodyPr/>
                    <a:lstStyle/>
                    <a:p>
                      <a:r>
                        <a:rPr lang="en-IN" dirty="0">
                          <a:latin typeface="Times New Roman" panose="02020603050405020304" pitchFamily="18" charset="0"/>
                          <a:cs typeface="Times New Roman" panose="02020603050405020304" pitchFamily="18" charset="0"/>
                        </a:rPr>
                        <a:t>Author</a:t>
                      </a:r>
                    </a:p>
                  </a:txBody>
                  <a:tcPr/>
                </a:tc>
                <a:tc>
                  <a:txBody>
                    <a:bodyPr/>
                    <a:lstStyle/>
                    <a:p>
                      <a:r>
                        <a:rPr lang="en-US" dirty="0">
                          <a:latin typeface="Times New Roman" panose="02020603050405020304" pitchFamily="18" charset="0"/>
                          <a:cs typeface="Times New Roman" panose="02020603050405020304" pitchFamily="18" charset="0"/>
                        </a:rPr>
                        <a:t>P. Puteaux &amp; W. Puech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 .Yi &amp; Y. Zhou</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9565012"/>
                  </a:ext>
                </a:extLst>
              </a:tr>
              <a:tr h="863766">
                <a:tc>
                  <a:txBody>
                    <a:bodyPr/>
                    <a:lstStyle/>
                    <a:p>
                      <a:r>
                        <a:rPr lang="en-IN" dirty="0">
                          <a:latin typeface="Times New Roman" panose="02020603050405020304" pitchFamily="18" charset="0"/>
                          <a:cs typeface="Times New Roman" panose="02020603050405020304" pitchFamily="18" charset="0"/>
                        </a:rPr>
                        <a:t>Uses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Privacy protection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data communication</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Reversible data hiding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water marking</a:t>
                      </a:r>
                    </a:p>
                  </a:txBody>
                  <a:tcPr/>
                </a:tc>
                <a:extLst>
                  <a:ext uri="{0D108BD9-81ED-4DB2-BD59-A6C34878D82A}">
                    <a16:rowId xmlns:a16="http://schemas.microsoft.com/office/drawing/2014/main" val="3092888860"/>
                  </a:ext>
                </a:extLst>
              </a:tr>
            </a:tbl>
          </a:graphicData>
        </a:graphic>
      </p:graphicFrame>
    </p:spTree>
    <p:extLst>
      <p:ext uri="{BB962C8B-B14F-4D97-AF65-F5344CB8AC3E}">
        <p14:creationId xmlns:p14="http://schemas.microsoft.com/office/powerpoint/2010/main" val="10420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FD0EA-0FDE-466C-835B-5E16F197462B}"/>
              </a:ext>
            </a:extLst>
          </p:cNvPr>
          <p:cNvSpPr>
            <a:spLocks noGrp="1"/>
          </p:cNvSpPr>
          <p:nvPr>
            <p:ph type="title"/>
          </p:nvPr>
        </p:nvSpPr>
        <p:spPr>
          <a:xfrm>
            <a:off x="2672545" y="888569"/>
            <a:ext cx="7287243" cy="1091568"/>
          </a:xfrm>
        </p:spPr>
        <p:txBody>
          <a:bodyPr>
            <a:normAutofit/>
          </a:bodyPr>
          <a:lstStyle/>
          <a:p>
            <a:r>
              <a:rPr lang="en-US" sz="4000" b="1" dirty="0">
                <a:latin typeface="Times New Roman" panose="02020603050405020304" pitchFamily="18" charset="0"/>
                <a:cs typeface="Times New Roman" panose="02020603050405020304" pitchFamily="18" charset="0"/>
              </a:rPr>
              <a:t>EXISTING METHODS </a:t>
            </a:r>
            <a:endParaRPr lang="en-GB"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A48BC5-37C3-4384-ABE4-96D608A4423A}"/>
              </a:ext>
            </a:extLst>
          </p:cNvPr>
          <p:cNvSpPr>
            <a:spLocks noGrp="1"/>
          </p:cNvSpPr>
          <p:nvPr>
            <p:ph idx="1"/>
          </p:nvPr>
        </p:nvSpPr>
        <p:spPr>
          <a:xfrm>
            <a:off x="1144588" y="2338725"/>
            <a:ext cx="11047412" cy="3630706"/>
          </a:xfrm>
        </p:spPr>
        <p:txBody>
          <a:bodyPr>
            <a:normAutofit/>
          </a:bodyPr>
          <a:lstStyle/>
          <a:p>
            <a:r>
              <a:rPr lang="en-US" sz="2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p>
          <a:p>
            <a:r>
              <a:rPr lang="en-US" sz="2400" b="1" dirty="0">
                <a:solidFill>
                  <a:srgbClr val="002060"/>
                </a:solidFill>
                <a:latin typeface="Times New Roman" panose="02020603050405020304" pitchFamily="18" charset="0"/>
                <a:cs typeface="Times New Roman" panose="02020603050405020304" pitchFamily="18" charset="0"/>
              </a:rPr>
              <a:t>PARAMETRIC BINARY TREE LABELING- (RDHEI)</a:t>
            </a:r>
            <a:endParaRPr lang="en-IN"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6945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6A99-BC5F-E696-A870-A7BE0216E1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0D16CF-E6B5-38CE-BE3D-4BDBC729FB59}"/>
              </a:ext>
            </a:extLst>
          </p:cNvPr>
          <p:cNvSpPr>
            <a:spLocks noGrp="1"/>
          </p:cNvSpPr>
          <p:nvPr>
            <p:ph type="title"/>
          </p:nvPr>
        </p:nvSpPr>
        <p:spPr>
          <a:xfrm>
            <a:off x="1895302" y="2822281"/>
            <a:ext cx="9360131" cy="1213437"/>
          </a:xfrm>
        </p:spPr>
        <p:txBody>
          <a:bodyPr>
            <a:normAutofit fontScale="90000"/>
          </a:bodyPr>
          <a:lstStyle/>
          <a:p>
            <a:pPr algn="ctr"/>
            <a:r>
              <a:rPr lang="en-US" sz="40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p>
        </p:txBody>
      </p:sp>
      <p:sp>
        <p:nvSpPr>
          <p:cNvPr id="2" name="Rectangle 1">
            <a:extLst>
              <a:ext uri="{FF2B5EF4-FFF2-40B4-BE49-F238E27FC236}">
                <a16:creationId xmlns:a16="http://schemas.microsoft.com/office/drawing/2014/main" id="{D9D93D02-CAA6-3779-D6A0-6E6EF1AFD606}"/>
              </a:ext>
            </a:extLst>
          </p:cNvPr>
          <p:cNvSpPr/>
          <p:nvPr/>
        </p:nvSpPr>
        <p:spPr>
          <a:xfrm>
            <a:off x="2094754" y="1682301"/>
            <a:ext cx="8408894" cy="1015663"/>
          </a:xfrm>
          <a:prstGeom prst="rect">
            <a:avLst/>
          </a:prstGeom>
        </p:spPr>
        <p:txBody>
          <a:bodyPr wrap="square">
            <a:spAutoFit/>
          </a:bodyPr>
          <a:lstStyle/>
          <a:p>
            <a:r>
              <a:rPr lang="en-IN" sz="6000" b="1" dirty="0">
                <a:solidFill>
                  <a:srgbClr val="FF0000"/>
                </a:solidFill>
                <a:latin typeface="Times New Roman" panose="02020603050405020304" pitchFamily="18" charset="0"/>
                <a:cs typeface="Times New Roman" panose="02020603050405020304" pitchFamily="18" charset="0"/>
              </a:rPr>
              <a:t>EXISTING METHOD 	1</a:t>
            </a:r>
            <a:endParaRPr lang="en-GB" sz="6000" dirty="0"/>
          </a:p>
        </p:txBody>
      </p:sp>
    </p:spTree>
    <p:extLst>
      <p:ext uri="{BB962C8B-B14F-4D97-AF65-F5344CB8AC3E}">
        <p14:creationId xmlns:p14="http://schemas.microsoft.com/office/powerpoint/2010/main" val="3568726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EC09-BFB5-58A5-BFB2-7D82EF5046D1}"/>
              </a:ext>
            </a:extLst>
          </p:cNvPr>
          <p:cNvSpPr>
            <a:spLocks noGrp="1"/>
          </p:cNvSpPr>
          <p:nvPr>
            <p:ph type="title"/>
          </p:nvPr>
        </p:nvSpPr>
        <p:spPr>
          <a:xfrm>
            <a:off x="1760221" y="624110"/>
            <a:ext cx="9744392" cy="1612014"/>
          </a:xfrm>
        </p:spPr>
        <p:txBody>
          <a:bodyPr>
            <a:no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01. HIGH - CAPACITY REVERSIBLE DATA HIDING IN ENCRYPTED IMAGES</a:t>
            </a:r>
            <a:endParaRPr lang="en-IN" sz="3200" b="1" dirty="0"/>
          </a:p>
        </p:txBody>
      </p:sp>
      <p:sp>
        <p:nvSpPr>
          <p:cNvPr id="3" name="Content Placeholder 2">
            <a:extLst>
              <a:ext uri="{FF2B5EF4-FFF2-40B4-BE49-F238E27FC236}">
                <a16:creationId xmlns:a16="http://schemas.microsoft.com/office/drawing/2014/main" id="{4346269C-B39F-611D-39E5-92BD6008A860}"/>
              </a:ext>
            </a:extLst>
          </p:cNvPr>
          <p:cNvSpPr>
            <a:spLocks noGrp="1"/>
          </p:cNvSpPr>
          <p:nvPr>
            <p:ph idx="1"/>
          </p:nvPr>
        </p:nvSpPr>
        <p:spPr>
          <a:xfrm>
            <a:off x="1760221" y="2722418"/>
            <a:ext cx="9744392" cy="2562232"/>
          </a:xfrm>
        </p:spPr>
        <p:txBody>
          <a:bodyPr>
            <a:normAutofit/>
          </a:bodyPr>
          <a:lstStyle/>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Algorithm</a:t>
            </a:r>
          </a:p>
          <a:p>
            <a:r>
              <a:rPr lang="en-IN" sz="2400" dirty="0">
                <a:latin typeface="Times New Roman" panose="02020603050405020304" pitchFamily="18" charset="0"/>
                <a:cs typeface="Times New Roman" panose="02020603050405020304" pitchFamily="18" charset="0"/>
              </a:rPr>
              <a:t>Pros</a:t>
            </a:r>
          </a:p>
          <a:p>
            <a:r>
              <a:rPr lang="en-IN" sz="2400" dirty="0">
                <a:latin typeface="Times New Roman" panose="02020603050405020304" pitchFamily="18" charset="0"/>
                <a:cs typeface="Times New Roman" panose="02020603050405020304" pitchFamily="18" charset="0"/>
              </a:rPr>
              <a:t>Cons</a:t>
            </a:r>
          </a:p>
        </p:txBody>
      </p:sp>
      <p:sp>
        <p:nvSpPr>
          <p:cNvPr id="4" name="Rectangle 3">
            <a:extLst>
              <a:ext uri="{FF2B5EF4-FFF2-40B4-BE49-F238E27FC236}">
                <a16:creationId xmlns:a16="http://schemas.microsoft.com/office/drawing/2014/main" id="{DD55BE53-CD9B-4A8A-8805-51375A204B9C}"/>
              </a:ext>
            </a:extLst>
          </p:cNvPr>
          <p:cNvSpPr/>
          <p:nvPr/>
        </p:nvSpPr>
        <p:spPr>
          <a:xfrm>
            <a:off x="4798209" y="137816"/>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38890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D850D-72C0-E8D5-5EBB-3065CB63BBB7}"/>
              </a:ext>
            </a:extLst>
          </p:cNvPr>
          <p:cNvSpPr>
            <a:spLocks noGrp="1"/>
          </p:cNvSpPr>
          <p:nvPr>
            <p:ph type="title"/>
          </p:nvPr>
        </p:nvSpPr>
        <p:spPr>
          <a:xfrm>
            <a:off x="1665515" y="624110"/>
            <a:ext cx="9839098" cy="714833"/>
          </a:xfrm>
        </p:spPr>
        <p:txBody>
          <a:bodyPr/>
          <a:lstStyle/>
          <a:p>
            <a:r>
              <a:rPr lang="en-IN" b="1">
                <a:solidFill>
                  <a:srgbClr val="0070C0"/>
                </a:solidFill>
                <a:latin typeface="Times New Roman" panose="02020603050405020304" pitchFamily="18" charset="0"/>
                <a:cs typeface="Times New Roman" panose="02020603050405020304" pitchFamily="18" charset="0"/>
              </a:rPr>
              <a:t>BLOCK DIAGRAM</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3A4AA23-BA6D-4662-9AFD-BA1A26F22AE7}"/>
              </a:ext>
            </a:extLst>
          </p:cNvPr>
          <p:cNvSpPr/>
          <p:nvPr/>
        </p:nvSpPr>
        <p:spPr>
          <a:xfrm>
            <a:off x="251012" y="34643"/>
            <a:ext cx="2597674"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
        <p:nvSpPr>
          <p:cNvPr id="4" name="Rectangle 3">
            <a:extLst>
              <a:ext uri="{FF2B5EF4-FFF2-40B4-BE49-F238E27FC236}">
                <a16:creationId xmlns:a16="http://schemas.microsoft.com/office/drawing/2014/main" id="{02EC7C3D-DB49-4B36-832E-2ABD5A89D942}"/>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6" name="Content Placeholder 5">
            <a:extLst>
              <a:ext uri="{FF2B5EF4-FFF2-40B4-BE49-F238E27FC236}">
                <a16:creationId xmlns:a16="http://schemas.microsoft.com/office/drawing/2014/main" id="{66C89775-2E52-8ABC-11B2-D6C39CDBD12A}"/>
              </a:ext>
            </a:extLst>
          </p:cNvPr>
          <p:cNvSpPr>
            <a:spLocks noGrp="1"/>
          </p:cNvSpPr>
          <p:nvPr>
            <p:ph idx="1"/>
          </p:nvPr>
        </p:nvSpPr>
        <p:spPr>
          <a:xfrm>
            <a:off x="579118" y="1338943"/>
            <a:ext cx="11033763" cy="5286301"/>
          </a:xfrm>
        </p:spPr>
        <p:txBody>
          <a:bodyPr/>
          <a:lstStyle/>
          <a:p>
            <a:endParaRPr lang="en-IN" dirty="0"/>
          </a:p>
        </p:txBody>
      </p:sp>
      <p:pic>
        <p:nvPicPr>
          <p:cNvPr id="9" name="Picture 8">
            <a:extLst>
              <a:ext uri="{FF2B5EF4-FFF2-40B4-BE49-F238E27FC236}">
                <a16:creationId xmlns:a16="http://schemas.microsoft.com/office/drawing/2014/main" id="{2C479D35-E291-2DFA-6493-9E0BCF7CB36D}"/>
              </a:ext>
            </a:extLst>
          </p:cNvPr>
          <p:cNvPicPr>
            <a:picLocks noChangeAspect="1"/>
          </p:cNvPicPr>
          <p:nvPr/>
        </p:nvPicPr>
        <p:blipFill>
          <a:blip r:embed="rId2"/>
          <a:stretch>
            <a:fillRect/>
          </a:stretch>
        </p:blipFill>
        <p:spPr>
          <a:xfrm>
            <a:off x="579118" y="1339004"/>
            <a:ext cx="11033763" cy="5286240"/>
          </a:xfrm>
          <a:prstGeom prst="rect">
            <a:avLst/>
          </a:prstGeom>
        </p:spPr>
      </p:pic>
    </p:spTree>
    <p:extLst>
      <p:ext uri="{BB962C8B-B14F-4D97-AF65-F5344CB8AC3E}">
        <p14:creationId xmlns:p14="http://schemas.microsoft.com/office/powerpoint/2010/main" val="4291260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E00D-D281-6A69-696E-50625187AD21}"/>
              </a:ext>
            </a:extLst>
          </p:cNvPr>
          <p:cNvSpPr>
            <a:spLocks noGrp="1"/>
          </p:cNvSpPr>
          <p:nvPr>
            <p:ph type="title"/>
          </p:nvPr>
        </p:nvSpPr>
        <p:spPr>
          <a:xfrm>
            <a:off x="2592925" y="624110"/>
            <a:ext cx="8911687" cy="649519"/>
          </a:xfrm>
        </p:spPr>
        <p:txBody>
          <a:bodyPr/>
          <a:lstStyle/>
          <a:p>
            <a:r>
              <a:rPr lang="en-US" b="1" dirty="0">
                <a:solidFill>
                  <a:srgbClr val="0070C0"/>
                </a:solidFill>
                <a:latin typeface="Times New Roman" panose="02020603050405020304" pitchFamily="18" charset="0"/>
                <a:cs typeface="Times New Roman" panose="02020603050405020304" pitchFamily="18" charset="0"/>
              </a:rPr>
              <a:t>ALGORITHM</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B6F0B8-396A-675E-8293-5ACE773B5898}"/>
              </a:ext>
            </a:extLst>
          </p:cNvPr>
          <p:cNvSpPr>
            <a:spLocks noGrp="1"/>
          </p:cNvSpPr>
          <p:nvPr>
            <p:ph idx="1"/>
          </p:nvPr>
        </p:nvSpPr>
        <p:spPr>
          <a:xfrm>
            <a:off x="2286000" y="1454727"/>
            <a:ext cx="9109755" cy="4630667"/>
          </a:xfrm>
        </p:spPr>
        <p:txBody>
          <a:bodyPr>
            <a:normAutofit lnSpcReduction="10000"/>
          </a:bodyPr>
          <a:lstStyle/>
          <a:p>
            <a:pPr marL="0" indent="0">
              <a:buNone/>
            </a:pPr>
            <a:r>
              <a:rPr lang="en-IN" sz="2000" b="1" dirty="0">
                <a:latin typeface="Times New Roman" panose="02020603050405020304" pitchFamily="18" charset="0"/>
                <a:cs typeface="Times New Roman" panose="02020603050405020304" pitchFamily="18" charset="0"/>
              </a:rPr>
              <a:t>Input : Original Image I , Encryption key Ke , Data hiding key Kw , Secret Message</a:t>
            </a:r>
          </a:p>
          <a:p>
            <a:r>
              <a:rPr lang="en-IN" b="1" u="sng" dirty="0">
                <a:latin typeface="Times New Roman" panose="02020603050405020304" pitchFamily="18" charset="0"/>
                <a:cs typeface="Times New Roman" panose="02020603050405020304" pitchFamily="18" charset="0"/>
              </a:rPr>
              <a:t>01.Prediction error detection</a:t>
            </a:r>
          </a:p>
          <a:p>
            <a:pPr marL="0" indent="0">
              <a:spcBef>
                <a:spcPts val="0"/>
              </a:spcBef>
              <a:buNone/>
            </a:pPr>
            <a:r>
              <a:rPr lang="en-IN" b="1" dirty="0">
                <a:latin typeface="Times New Roman" panose="02020603050405020304" pitchFamily="18" charset="0"/>
                <a:cs typeface="Times New Roman" panose="02020603050405020304" pitchFamily="18" charset="0"/>
              </a:rPr>
              <a:t>for i ← 1 to m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for j ← 1 to n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if i = 1 or j = 1 then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Special processing for boundary pixels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else</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pred (i, j) ← (p (i-1, j) + p (i, j-1)) / 2</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if</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Δ ← |pred (i, j) – p (i, j) |</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Δinv ← |pred (i, j) - ((p (i, j) + 128) mod 256) |</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if Δ ≥ Δinv then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Mark p (i, j) as a prediction error in binary map</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if</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for</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end for</a:t>
            </a:r>
            <a:endParaRPr lang="en-GB" b="1" dirty="0">
              <a:latin typeface="Times New Roman" panose="02020603050405020304" pitchFamily="18"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CC259BB9-CD87-477A-B33A-2B02452F956B}"/>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
        <p:nvSpPr>
          <p:cNvPr id="6" name="Rectangle 5">
            <a:extLst>
              <a:ext uri="{FF2B5EF4-FFF2-40B4-BE49-F238E27FC236}">
                <a16:creationId xmlns:a16="http://schemas.microsoft.com/office/drawing/2014/main" id="{5D2C52F3-2B71-4D61-B92B-84DD85A440B1}"/>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Tree>
    <p:extLst>
      <p:ext uri="{BB962C8B-B14F-4D97-AF65-F5344CB8AC3E}">
        <p14:creationId xmlns:p14="http://schemas.microsoft.com/office/powerpoint/2010/main" val="1238515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589C4-372E-40FE-A7F9-D39971C1AE02}"/>
              </a:ext>
            </a:extLst>
          </p:cNvPr>
          <p:cNvSpPr>
            <a:spLocks noGrp="1"/>
          </p:cNvSpPr>
          <p:nvPr>
            <p:ph idx="1"/>
          </p:nvPr>
        </p:nvSpPr>
        <p:spPr>
          <a:xfrm>
            <a:off x="2079172" y="587830"/>
            <a:ext cx="9440384" cy="5976256"/>
          </a:xfrm>
        </p:spPr>
        <p:txBody>
          <a:bodyPr>
            <a:normAutofit fontScale="92500" lnSpcReduction="10000"/>
          </a:bodyPr>
          <a:lstStyle/>
          <a:p>
            <a:r>
              <a:rPr lang="en-IN" sz="1900" b="1" u="sng" dirty="0">
                <a:latin typeface="Times New Roman" panose="02020603050405020304" pitchFamily="18" charset="0"/>
                <a:cs typeface="Times New Roman" panose="02020603050405020304" pitchFamily="18" charset="0"/>
              </a:rPr>
              <a:t>02.Image encryption</a:t>
            </a:r>
            <a:endParaRPr lang="en-GB" sz="1900" b="1" u="sng"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Generate pseudo-random sequence s (i, j) using chaotic map with K_e</a:t>
            </a:r>
          </a:p>
          <a:p>
            <a:pPr marL="0" indent="0">
              <a:spcBef>
                <a:spcPts val="0"/>
              </a:spcBef>
              <a:buNone/>
            </a:pPr>
            <a:r>
              <a:rPr lang="en-IN" sz="1900" b="1" dirty="0">
                <a:latin typeface="Times New Roman" panose="02020603050405020304" pitchFamily="18" charset="0"/>
                <a:cs typeface="Times New Roman" panose="02020603050405020304" pitchFamily="18" charset="0"/>
              </a:rPr>
              <a:t>for i ← 1 to m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for j ← 1 to n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pe (i, j) ← p (i, j) XOR s (i, j)</a:t>
            </a:r>
          </a:p>
          <a:p>
            <a:pPr marL="0" indent="0">
              <a:spcBef>
                <a:spcPts val="0"/>
              </a:spcBef>
              <a:buNone/>
            </a:pPr>
            <a:r>
              <a:rPr lang="en-IN" sz="1900" b="1" dirty="0">
                <a:latin typeface="Times New Roman" panose="02020603050405020304" pitchFamily="18" charset="0"/>
                <a:cs typeface="Times New Roman" panose="02020603050405020304" pitchFamily="18" charset="0"/>
              </a:rPr>
              <a:t>    end for</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end for</a:t>
            </a:r>
          </a:p>
          <a:p>
            <a:pPr marL="0" indent="0">
              <a:spcBef>
                <a:spcPts val="0"/>
              </a:spcBef>
              <a:buNone/>
            </a:pPr>
            <a:endParaRPr lang="en-GB" sz="1900" b="1"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03.</a:t>
            </a:r>
            <a:r>
              <a:rPr lang="en-IN" sz="1900" b="1" u="sng" dirty="0">
                <a:latin typeface="Times New Roman" panose="02020603050405020304" pitchFamily="18" charset="0"/>
                <a:cs typeface="Times New Roman" panose="02020603050405020304" pitchFamily="18" charset="0"/>
              </a:rPr>
              <a:t>Embedding prediction error information</a:t>
            </a:r>
          </a:p>
          <a:p>
            <a:pPr marL="0" indent="0">
              <a:spcBef>
                <a:spcPts val="0"/>
              </a:spcBef>
              <a:buNone/>
            </a:pPr>
            <a:r>
              <a:rPr lang="en-IN" sz="1900" b="1" dirty="0">
                <a:latin typeface="Times New Roman" panose="02020603050405020304" pitchFamily="18" charset="0"/>
                <a:cs typeface="Times New Roman" panose="02020603050405020304" pitchFamily="18" charset="0"/>
              </a:rPr>
              <a:t>Divide pe into blocks of size 8 pixels</a:t>
            </a:r>
          </a:p>
          <a:p>
            <a:pPr marL="0" indent="0">
              <a:spcBef>
                <a:spcPts val="0"/>
              </a:spcBef>
              <a:buNone/>
            </a:pPr>
            <a:r>
              <a:rPr lang="en-IN" sz="1900" b="1" dirty="0">
                <a:latin typeface="Times New Roman" panose="02020603050405020304" pitchFamily="18" charset="0"/>
                <a:cs typeface="Times New Roman" panose="02020603050405020304" pitchFamily="18" charset="0"/>
              </a:rPr>
              <a:t>for each block B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if block contains prediction errors then</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Add flags to preceding and succeeding blocks</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for each pixel in B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if pixel is a prediction error then</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Replace MSB with 1</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else</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Replace MSB with 0</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if</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for</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if</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end for</a:t>
            </a:r>
            <a:endParaRPr lang="en-GB" sz="19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5C14635E-9D73-4AD4-83F7-E1FD47C3B8BC}"/>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6F10CD48-66DA-4AC1-9046-9D2C18BC71DC}"/>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59968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AB888-DE91-45FA-9366-090CD15E9457}"/>
              </a:ext>
            </a:extLst>
          </p:cNvPr>
          <p:cNvSpPr>
            <a:spLocks noGrp="1"/>
          </p:cNvSpPr>
          <p:nvPr>
            <p:ph idx="1"/>
          </p:nvPr>
        </p:nvSpPr>
        <p:spPr>
          <a:xfrm>
            <a:off x="2549932" y="1382486"/>
            <a:ext cx="8509954" cy="3886200"/>
          </a:xfrm>
        </p:spPr>
        <p:txBody>
          <a:bodyPr>
            <a:normAutofit/>
          </a:bodyPr>
          <a:lstStyle/>
          <a:p>
            <a:pPr>
              <a:spcBef>
                <a:spcPts val="0"/>
              </a:spcBef>
            </a:pPr>
            <a:r>
              <a:rPr lang="en-IN" b="1" u="sng" dirty="0">
                <a:latin typeface="Times New Roman" panose="02020603050405020304" pitchFamily="18" charset="0"/>
                <a:cs typeface="Times New Roman" panose="02020603050405020304" pitchFamily="18" charset="0"/>
              </a:rPr>
              <a:t>04.Data Hiding</a:t>
            </a:r>
            <a:endParaRPr lang="en-GB" b="1" u="sng" dirty="0">
              <a:latin typeface="Times New Roman" panose="02020603050405020304" pitchFamily="18" charset="0"/>
              <a:cs typeface="Times New Roman" panose="02020603050405020304" pitchFamily="18" charset="0"/>
            </a:endParaRPr>
          </a:p>
          <a:p>
            <a:pPr marL="0" indent="0">
              <a:spcBef>
                <a:spcPts val="0"/>
              </a:spcBef>
              <a:buNone/>
            </a:pPr>
            <a:r>
              <a:rPr lang="en-US" b="1" dirty="0">
                <a:latin typeface="Times New Roman" panose="02020603050405020304" pitchFamily="18" charset="0"/>
                <a:cs typeface="Times New Roman" panose="02020603050405020304" pitchFamily="18" charset="0"/>
              </a:rPr>
              <a:t>for each block B in encrypted_image do</a:t>
            </a:r>
          </a:p>
          <a:p>
            <a:pPr marL="0" indent="0">
              <a:spcBef>
                <a:spcPts val="0"/>
              </a:spcBef>
              <a:buNone/>
            </a:pPr>
            <a:r>
              <a:rPr lang="en-US" b="1" dirty="0">
                <a:latin typeface="Times New Roman" panose="02020603050405020304" pitchFamily="18" charset="0"/>
                <a:cs typeface="Times New Roman" panose="02020603050405020304" pitchFamily="18" charset="0"/>
              </a:rPr>
              <a:t>    if B is not flagged or contains prediction errors then</a:t>
            </a:r>
          </a:p>
          <a:p>
            <a:pPr marL="0" indent="0">
              <a:spcBef>
                <a:spcPts val="0"/>
              </a:spcBef>
              <a:buNone/>
            </a:pPr>
            <a:r>
              <a:rPr lang="en-US" b="1" dirty="0">
                <a:latin typeface="Times New Roman" panose="02020603050405020304" pitchFamily="18" charset="0"/>
                <a:cs typeface="Times New Roman" panose="02020603050405020304" pitchFamily="18" charset="0"/>
              </a:rPr>
              <a:t>        for each pixel (i, j) in B do</a:t>
            </a:r>
          </a:p>
          <a:p>
            <a:pPr marL="0" indent="0">
              <a:spcBef>
                <a:spcPts val="0"/>
              </a:spcBef>
              <a:buNone/>
            </a:pPr>
            <a:r>
              <a:rPr lang="en-US" b="1" dirty="0">
                <a:latin typeface="Times New Roman" panose="02020603050405020304" pitchFamily="18" charset="0"/>
                <a:cs typeface="Times New Roman" panose="02020603050405020304" pitchFamily="18" charset="0"/>
              </a:rPr>
              <a:t>            pew(i, j) = bk × 128 + (pe(i, j) mod 128)</a:t>
            </a:r>
          </a:p>
          <a:p>
            <a:pPr marL="0" indent="0">
              <a:spcBef>
                <a:spcPts val="0"/>
              </a:spcBef>
              <a:buNone/>
            </a:pPr>
            <a:r>
              <a:rPr lang="en-US" b="1" dirty="0">
                <a:latin typeface="Times New Roman" panose="02020603050405020304" pitchFamily="18" charset="0"/>
                <a:cs typeface="Times New Roman" panose="02020603050405020304" pitchFamily="18" charset="0"/>
              </a:rPr>
              <a:t>        end for</a:t>
            </a:r>
          </a:p>
          <a:p>
            <a:pPr marL="0" indent="0">
              <a:spcBef>
                <a:spcPts val="0"/>
              </a:spcBef>
              <a:buNone/>
            </a:pPr>
            <a:r>
              <a:rPr lang="en-US" b="1" dirty="0">
                <a:latin typeface="Times New Roman" panose="02020603050405020304" pitchFamily="18" charset="0"/>
                <a:cs typeface="Times New Roman" panose="02020603050405020304" pitchFamily="18" charset="0"/>
              </a:rPr>
              <a:t>    end if</a:t>
            </a:r>
          </a:p>
          <a:p>
            <a:pPr marL="0" indent="0">
              <a:spcBef>
                <a:spcPts val="0"/>
              </a:spcBef>
              <a:buNone/>
            </a:pPr>
            <a:r>
              <a:rPr lang="en-US" b="1" dirty="0">
                <a:latin typeface="Times New Roman" panose="02020603050405020304" pitchFamily="18" charset="0"/>
                <a:cs typeface="Times New Roman" panose="02020603050405020304" pitchFamily="18" charset="0"/>
              </a:rPr>
              <a:t>end for</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a:spcBef>
                <a:spcPts val="0"/>
              </a:spcBef>
            </a:pPr>
            <a:r>
              <a:rPr lang="en-IN" b="1" u="sng" dirty="0">
                <a:latin typeface="Times New Roman" panose="02020603050405020304" pitchFamily="18" charset="0"/>
                <a:cs typeface="Times New Roman" panose="02020603050405020304" pitchFamily="18" charset="0"/>
              </a:rPr>
              <a:t>05.(a)Data extraction</a:t>
            </a:r>
            <a:endParaRPr lang="en-GB" b="1" u="sng"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for each pixel pew (i, j) in Iew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Extract MSB bit to retrieve message</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end for</a:t>
            </a:r>
          </a:p>
          <a:p>
            <a:pPr marL="0" indent="0">
              <a:buNone/>
            </a:pPr>
            <a:endParaRPr lang="en-GB" sz="2000" b="1" dirty="0"/>
          </a:p>
        </p:txBody>
      </p:sp>
      <p:sp>
        <p:nvSpPr>
          <p:cNvPr id="4" name="Rectangle 3">
            <a:extLst>
              <a:ext uri="{FF2B5EF4-FFF2-40B4-BE49-F238E27FC236}">
                <a16:creationId xmlns:a16="http://schemas.microsoft.com/office/drawing/2014/main" id="{7B482D75-5D03-43BB-ADCA-172785A2C665}"/>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1EEE5DAF-656D-4D01-B9DC-B7E62E694EF8}"/>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264723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DB35-57AB-DEA3-D8BB-AE2D0673824E}"/>
              </a:ext>
            </a:extLst>
          </p:cNvPr>
          <p:cNvSpPr>
            <a:spLocks noGrp="1"/>
          </p:cNvSpPr>
          <p:nvPr>
            <p:ph type="title"/>
          </p:nvPr>
        </p:nvSpPr>
        <p:spPr>
          <a:xfrm>
            <a:off x="2592924" y="914400"/>
            <a:ext cx="8911687" cy="4909457"/>
          </a:xfrm>
        </p:spPr>
        <p:txBody>
          <a:bodyPr>
            <a:normAutofit fontScale="90000"/>
          </a:bodyPr>
          <a:lstStyle/>
          <a:p>
            <a:pPr>
              <a:spcBef>
                <a:spcPts val="0"/>
              </a:spcBef>
            </a:pPr>
            <a:r>
              <a:rPr lang="en-IN" sz="2000" b="1" u="sng" dirty="0">
                <a:latin typeface="Times New Roman" panose="02020603050405020304" pitchFamily="18" charset="0"/>
                <a:cs typeface="Times New Roman" panose="02020603050405020304" pitchFamily="18" charset="0"/>
              </a:rPr>
              <a:t>05.(b)Image recovery</a:t>
            </a:r>
            <a:br>
              <a:rPr lang="en-GB" sz="2000" b="1" u="sng"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Generate pseudo-random sequence s (i, j) using K_e</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for each pixel pew (i, j) in Iew do</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Decrypt pixel: p'(i, j) ← pew (i, j) XOR s (i, j)</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Predict MSB using adjacent pixels:</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Δ0 ← |pred (i, j) - p'(i, j) MSB=0|</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Δ1 ← |pred (i, j) - p'(i, j) MSB=1|</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if Δ0 &lt; Δ1 then</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Assign p'(i, j) ← p'(i, j) MSB=0</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else</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Assign p'(i, j) ← p'(i, j) MSB=1</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end if</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end for</a:t>
            </a:r>
            <a:br>
              <a:rPr lang="en-IN"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r>
              <a:rPr lang="en-GB" sz="2000" b="1" dirty="0">
                <a:latin typeface="Times New Roman" panose="02020603050405020304" pitchFamily="18" charset="0"/>
                <a:cs typeface="Times New Roman" panose="02020603050405020304" pitchFamily="18" charset="0"/>
              </a:rPr>
              <a:t>Output: Recovered Image , Extracted Message</a:t>
            </a:r>
            <a:br>
              <a:rPr lang="en-GB" b="1" dirty="0">
                <a:latin typeface="Times New Roman" panose="02020603050405020304" pitchFamily="18" charset="0"/>
                <a:cs typeface="Times New Roman" panose="02020603050405020304" pitchFamily="18" charset="0"/>
              </a:rPr>
            </a:br>
            <a:endParaRPr lang="en-IN" dirty="0"/>
          </a:p>
        </p:txBody>
      </p:sp>
      <p:sp>
        <p:nvSpPr>
          <p:cNvPr id="3" name="Rectangle 2">
            <a:extLst>
              <a:ext uri="{FF2B5EF4-FFF2-40B4-BE49-F238E27FC236}">
                <a16:creationId xmlns:a16="http://schemas.microsoft.com/office/drawing/2014/main" id="{063045AF-647E-4A14-A1EA-EDD5D88F883B}"/>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4" name="Rectangle 3">
            <a:extLst>
              <a:ext uri="{FF2B5EF4-FFF2-40B4-BE49-F238E27FC236}">
                <a16:creationId xmlns:a16="http://schemas.microsoft.com/office/drawing/2014/main" id="{E8272485-1619-4391-8D90-2D18134105F2}"/>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809882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3CA9-DB90-233D-2E37-02D4176F63C4}"/>
              </a:ext>
            </a:extLst>
          </p:cNvPr>
          <p:cNvSpPr>
            <a:spLocks noGrp="1"/>
          </p:cNvSpPr>
          <p:nvPr>
            <p:ph type="title"/>
          </p:nvPr>
        </p:nvSpPr>
        <p:spPr>
          <a:xfrm>
            <a:off x="2207942" y="743852"/>
            <a:ext cx="9251269" cy="812805"/>
          </a:xfrm>
        </p:spPr>
        <p:txBody>
          <a:bodyPr/>
          <a:lstStyle/>
          <a:p>
            <a:r>
              <a:rPr lang="en-US" b="1" dirty="0">
                <a:solidFill>
                  <a:srgbClr val="0070C0"/>
                </a:solidFill>
                <a:latin typeface="Times New Roman" panose="02020603050405020304" pitchFamily="18" charset="0"/>
                <a:cs typeface="Times New Roman" panose="02020603050405020304" pitchFamily="18" charset="0"/>
              </a:rPr>
              <a:t>PROS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7D956A-41D0-E3D8-BEEC-3F9453888150}"/>
              </a:ext>
            </a:extLst>
          </p:cNvPr>
          <p:cNvSpPr>
            <a:spLocks noGrp="1"/>
          </p:cNvSpPr>
          <p:nvPr>
            <p:ph idx="1"/>
          </p:nvPr>
        </p:nvSpPr>
        <p:spPr>
          <a:xfrm>
            <a:off x="2166257" y="2133600"/>
            <a:ext cx="9334641" cy="2819401"/>
          </a:xfrm>
        </p:spPr>
        <p:txBody>
          <a:bodyPr>
            <a:normAutofit/>
          </a:bodyPr>
          <a:lstStyle/>
          <a:p>
            <a:pPr algn="just"/>
            <a:r>
              <a:rPr lang="en-US" sz="2400" b="1" dirty="0">
                <a:latin typeface="Times New Roman" panose="02020603050405020304" pitchFamily="18" charset="0"/>
                <a:ea typeface="Yu Gothic UI Light" panose="020B0300000000000000" pitchFamily="34" charset="-128"/>
                <a:cs typeface="Times New Roman" panose="02020603050405020304" pitchFamily="18" charset="0"/>
              </a:rPr>
              <a:t>Lossless Image Recovery: </a:t>
            </a:r>
            <a:r>
              <a:rPr lang="en-US" sz="2400" dirty="0">
                <a:latin typeface="Times New Roman" panose="02020603050405020304" pitchFamily="18" charset="0"/>
                <a:ea typeface="Yu Gothic UI Light" panose="020B0300000000000000" pitchFamily="34" charset="-128"/>
                <a:cs typeface="Times New Roman" panose="02020603050405020304" pitchFamily="18" charset="0"/>
              </a:rPr>
              <a:t>The original image can be perfectly restored without any quality loss, ensuring the integrity of the image.</a:t>
            </a:r>
          </a:p>
          <a:p>
            <a:pPr algn="just"/>
            <a:r>
              <a:rPr lang="en-US" sz="2400" b="1" dirty="0">
                <a:latin typeface="Times New Roman" panose="02020603050405020304" pitchFamily="18" charset="0"/>
                <a:ea typeface="Yu Gothic UI Light" panose="020B0300000000000000" pitchFamily="34" charset="-128"/>
                <a:cs typeface="Times New Roman" panose="02020603050405020304" pitchFamily="18" charset="0"/>
              </a:rPr>
              <a:t>High Embedding Capacity :</a:t>
            </a:r>
            <a:r>
              <a:rPr lang="en-US" sz="2400" dirty="0">
                <a:latin typeface="Times New Roman" panose="02020603050405020304" pitchFamily="18" charset="0"/>
                <a:ea typeface="Yu Gothic UI Light" panose="020B0300000000000000" pitchFamily="34" charset="-128"/>
                <a:cs typeface="Times New Roman" panose="02020603050405020304" pitchFamily="18" charset="0"/>
              </a:rPr>
              <a:t>The method enables higher data embedding capacity compared to traditional techniques, allowing more data to be hidden within the image without degrading its quality</a:t>
            </a:r>
            <a:endParaRPr lang="en-IN" sz="2400" dirty="0">
              <a:latin typeface="Times New Roman" panose="02020603050405020304" pitchFamily="18" charset="0"/>
              <a:ea typeface="Yu Gothic UI Light" panose="020B0300000000000000" pitchFamily="34" charset="-128"/>
              <a:cs typeface="Times New Roman" panose="02020603050405020304" pitchFamily="18" charset="0"/>
            </a:endParaRPr>
          </a:p>
        </p:txBody>
      </p:sp>
      <p:sp>
        <p:nvSpPr>
          <p:cNvPr id="4" name="Rectangle 3">
            <a:extLst>
              <a:ext uri="{FF2B5EF4-FFF2-40B4-BE49-F238E27FC236}">
                <a16:creationId xmlns:a16="http://schemas.microsoft.com/office/drawing/2014/main" id="{E3C5AC62-91AB-46FA-9A5D-16F49A6652B3}"/>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83BF898B-C2CC-4630-8B24-C4FD9210C622}"/>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942270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D18F-486E-7B31-C9AD-34F2364AF019}"/>
              </a:ext>
            </a:extLst>
          </p:cNvPr>
          <p:cNvSpPr>
            <a:spLocks noGrp="1"/>
          </p:cNvSpPr>
          <p:nvPr>
            <p:ph type="title"/>
          </p:nvPr>
        </p:nvSpPr>
        <p:spPr>
          <a:xfrm>
            <a:off x="2592925" y="624110"/>
            <a:ext cx="8911687" cy="899890"/>
          </a:xfrm>
        </p:spPr>
        <p:txBody>
          <a:bodyPr/>
          <a:lstStyle/>
          <a:p>
            <a:r>
              <a:rPr lang="en-US" b="1" dirty="0">
                <a:solidFill>
                  <a:srgbClr val="0070C0"/>
                </a:solidFill>
                <a:latin typeface="Times New Roman" panose="02020603050405020304" pitchFamily="18" charset="0"/>
                <a:cs typeface="Times New Roman" panose="02020603050405020304" pitchFamily="18" charset="0"/>
              </a:rPr>
              <a:t>CONS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225EAF-2565-2C4D-57E5-F491AD7D9A4A}"/>
              </a:ext>
            </a:extLst>
          </p:cNvPr>
          <p:cNvSpPr>
            <a:spLocks noGrp="1"/>
          </p:cNvSpPr>
          <p:nvPr>
            <p:ph idx="1"/>
          </p:nvPr>
        </p:nvSpPr>
        <p:spPr>
          <a:xfrm>
            <a:off x="2589212" y="1861457"/>
            <a:ext cx="8915400" cy="3320143"/>
          </a:xfrm>
        </p:spPr>
        <p:txBody>
          <a:bodyPr>
            <a:normAutofit/>
          </a:bodyPr>
          <a:lstStyle/>
          <a:p>
            <a:pPr algn="just"/>
            <a:r>
              <a:rPr lang="en-US" sz="2400" b="1" dirty="0">
                <a:latin typeface="Times New Roman" panose="02020603050405020304" pitchFamily="18" charset="0"/>
                <a:cs typeface="Times New Roman" panose="02020603050405020304" pitchFamily="18" charset="0"/>
              </a:rPr>
              <a:t>Key Dependency: </a:t>
            </a:r>
            <a:r>
              <a:rPr lang="en-US" sz="2400" dirty="0">
                <a:latin typeface="Times New Roman" panose="02020603050405020304" pitchFamily="18" charset="0"/>
                <a:cs typeface="Times New Roman" panose="02020603050405020304" pitchFamily="18" charset="0"/>
              </a:rPr>
              <a:t>Both the encryption key and data-hiding key are required for successful data extraction and image recovery, meaning that loss of either key renders the process impossible.</a:t>
            </a:r>
          </a:p>
          <a:p>
            <a:pPr algn="just"/>
            <a:r>
              <a:rPr lang="en-US" sz="2400" b="1" dirty="0">
                <a:latin typeface="Times New Roman" panose="02020603050405020304" pitchFamily="18" charset="0"/>
                <a:cs typeface="Times New Roman" panose="02020603050405020304" pitchFamily="18" charset="0"/>
              </a:rPr>
              <a:t>Complexity and Computational Overhead:</a:t>
            </a:r>
            <a:r>
              <a:rPr lang="en-US" sz="2400" dirty="0">
                <a:latin typeface="Times New Roman" panose="02020603050405020304" pitchFamily="18" charset="0"/>
                <a:cs typeface="Times New Roman" panose="02020603050405020304" pitchFamily="18" charset="0"/>
              </a:rPr>
              <a:t> The process involves multiple steps such as prediction error detection and encryption, which can be computationally expensive, especially for large images.</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738A1D8-06D1-4F71-9924-2566C328F09A}"/>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60634A20-94E7-4B81-AEB4-F476AFAD46BA}"/>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2399714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6A9BB-BA8A-259F-47ED-4950E5619CDB}"/>
              </a:ext>
            </a:extLst>
          </p:cNvPr>
          <p:cNvSpPr>
            <a:spLocks noGrp="1"/>
          </p:cNvSpPr>
          <p:nvPr>
            <p:ph type="title"/>
          </p:nvPr>
        </p:nvSpPr>
        <p:spPr>
          <a:xfrm>
            <a:off x="1895302" y="2822281"/>
            <a:ext cx="9360131" cy="1213437"/>
          </a:xfrm>
        </p:spPr>
        <p:txBody>
          <a:bodyPr>
            <a:normAutofit fontScale="90000"/>
          </a:bodyPr>
          <a:lstStyle/>
          <a:p>
            <a:pPr algn="ctr"/>
            <a:r>
              <a:rPr lang="en-US" sz="4000" b="1" dirty="0">
                <a:solidFill>
                  <a:srgbClr val="002060"/>
                </a:solidFill>
                <a:latin typeface="Times New Roman" panose="02020603050405020304" pitchFamily="18" charset="0"/>
                <a:cs typeface="Times New Roman" panose="02020603050405020304" pitchFamily="18" charset="0"/>
              </a:rPr>
              <a:t>RDHEI USING </a:t>
            </a:r>
            <a:br>
              <a:rPr lang="en-US" sz="4000" b="1" dirty="0">
                <a:solidFill>
                  <a:srgbClr val="002060"/>
                </a:solidFill>
                <a:latin typeface="Times New Roman" panose="02020603050405020304" pitchFamily="18" charset="0"/>
                <a:cs typeface="Times New Roman" panose="02020603050405020304" pitchFamily="18" charset="0"/>
              </a:rPr>
            </a:br>
            <a:r>
              <a:rPr lang="en-US" sz="4000" b="1" dirty="0">
                <a:solidFill>
                  <a:srgbClr val="002060"/>
                </a:solidFill>
                <a:latin typeface="Times New Roman" panose="02020603050405020304" pitchFamily="18" charset="0"/>
                <a:cs typeface="Times New Roman" panose="02020603050405020304" pitchFamily="18" charset="0"/>
              </a:rPr>
              <a:t>PARAMETRIC BINARY TREE LABELING</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267051E-0DA3-4596-8244-7AFF0DD2C624}"/>
              </a:ext>
            </a:extLst>
          </p:cNvPr>
          <p:cNvSpPr/>
          <p:nvPr/>
        </p:nvSpPr>
        <p:spPr>
          <a:xfrm>
            <a:off x="2094754" y="1682301"/>
            <a:ext cx="8408894" cy="1015663"/>
          </a:xfrm>
          <a:prstGeom prst="rect">
            <a:avLst/>
          </a:prstGeom>
        </p:spPr>
        <p:txBody>
          <a:bodyPr wrap="square">
            <a:spAutoFit/>
          </a:bodyPr>
          <a:lstStyle/>
          <a:p>
            <a:r>
              <a:rPr lang="en-IN" sz="6000" b="1" dirty="0">
                <a:solidFill>
                  <a:srgbClr val="FF0000"/>
                </a:solidFill>
                <a:latin typeface="Times New Roman" panose="02020603050405020304" pitchFamily="18" charset="0"/>
                <a:cs typeface="Times New Roman" panose="02020603050405020304" pitchFamily="18" charset="0"/>
              </a:rPr>
              <a:t>EXISTING METHOD 2</a:t>
            </a:r>
            <a:endParaRPr lang="en-GB" sz="6000" dirty="0"/>
          </a:p>
        </p:txBody>
      </p:sp>
    </p:spTree>
    <p:extLst>
      <p:ext uri="{BB962C8B-B14F-4D97-AF65-F5344CB8AC3E}">
        <p14:creationId xmlns:p14="http://schemas.microsoft.com/office/powerpoint/2010/main" val="3244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CA01-F697-D413-5524-74D64E6238CA}"/>
              </a:ext>
            </a:extLst>
          </p:cNvPr>
          <p:cNvSpPr>
            <a:spLocks noGrp="1"/>
          </p:cNvSpPr>
          <p:nvPr>
            <p:ph type="title"/>
          </p:nvPr>
        </p:nvSpPr>
        <p:spPr>
          <a:xfrm>
            <a:off x="1796143" y="624109"/>
            <a:ext cx="9708469" cy="1578763"/>
          </a:xfrm>
        </p:spPr>
        <p:txBody>
          <a:bodyPr>
            <a:normAutofit/>
          </a:bodyPr>
          <a:lstStyle/>
          <a:p>
            <a:pPr algn="ctr"/>
            <a:r>
              <a:rPr lang="en-US" b="1" dirty="0">
                <a:solidFill>
                  <a:srgbClr val="002060"/>
                </a:solidFill>
                <a:latin typeface="Times New Roman" panose="02020603050405020304" pitchFamily="18" charset="0"/>
                <a:cs typeface="Times New Roman" panose="02020603050405020304" pitchFamily="18" charset="0"/>
              </a:rPr>
              <a:t>02.RDHEI USING PARAMETRIC BINARY TREE LABELING</a:t>
            </a:r>
            <a:endParaRPr lang="en-IN" dirty="0"/>
          </a:p>
        </p:txBody>
      </p:sp>
      <p:sp>
        <p:nvSpPr>
          <p:cNvPr id="3" name="Content Placeholder 2">
            <a:extLst>
              <a:ext uri="{FF2B5EF4-FFF2-40B4-BE49-F238E27FC236}">
                <a16:creationId xmlns:a16="http://schemas.microsoft.com/office/drawing/2014/main" id="{5810E587-BA93-A219-49B1-13822344042F}"/>
              </a:ext>
            </a:extLst>
          </p:cNvPr>
          <p:cNvSpPr>
            <a:spLocks noGrp="1"/>
          </p:cNvSpPr>
          <p:nvPr>
            <p:ph idx="1"/>
          </p:nvPr>
        </p:nvSpPr>
        <p:spPr>
          <a:xfrm>
            <a:off x="2044926" y="2079812"/>
            <a:ext cx="9210902" cy="2115671"/>
          </a:xfrm>
        </p:spPr>
        <p:txBody>
          <a:bodyPr>
            <a:normAutofit/>
          </a:bodyPr>
          <a:lstStyle/>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Algorithm</a:t>
            </a:r>
          </a:p>
          <a:p>
            <a:r>
              <a:rPr lang="en-IN" sz="2400" dirty="0">
                <a:latin typeface="Times New Roman" panose="02020603050405020304" pitchFamily="18" charset="0"/>
                <a:cs typeface="Times New Roman" panose="02020603050405020304" pitchFamily="18" charset="0"/>
              </a:rPr>
              <a:t>Pros</a:t>
            </a:r>
          </a:p>
          <a:p>
            <a:r>
              <a:rPr lang="en-IN" sz="2400" dirty="0">
                <a:latin typeface="Times New Roman" panose="02020603050405020304" pitchFamily="18" charset="0"/>
                <a:cs typeface="Times New Roman" panose="02020603050405020304" pitchFamily="18" charset="0"/>
              </a:rPr>
              <a:t>Cons</a:t>
            </a:r>
          </a:p>
        </p:txBody>
      </p:sp>
    </p:spTree>
    <p:extLst>
      <p:ext uri="{BB962C8B-B14F-4D97-AF65-F5344CB8AC3E}">
        <p14:creationId xmlns:p14="http://schemas.microsoft.com/office/powerpoint/2010/main" val="977254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954E-A56D-F0E5-064E-D96258774953}"/>
              </a:ext>
            </a:extLst>
          </p:cNvPr>
          <p:cNvSpPr>
            <a:spLocks noGrp="1"/>
          </p:cNvSpPr>
          <p:nvPr>
            <p:ph type="title"/>
          </p:nvPr>
        </p:nvSpPr>
        <p:spPr>
          <a:xfrm>
            <a:off x="2503715" y="624110"/>
            <a:ext cx="9000898" cy="1280890"/>
          </a:xfrm>
        </p:spPr>
        <p:txBody>
          <a:bodyPr/>
          <a:lstStyle/>
          <a:p>
            <a:r>
              <a:rPr lang="en-IN" b="1" dirty="0">
                <a:solidFill>
                  <a:srgbClr val="0070C0"/>
                </a:solidFill>
                <a:latin typeface="Times New Roman" panose="02020603050405020304" pitchFamily="18" charset="0"/>
                <a:cs typeface="Times New Roman" panose="02020603050405020304" pitchFamily="18" charset="0"/>
              </a:rPr>
              <a:t>BLOCK DIAGRAM</a:t>
            </a:r>
          </a:p>
        </p:txBody>
      </p:sp>
      <p:sp>
        <p:nvSpPr>
          <p:cNvPr id="3" name="Rectangle 2">
            <a:extLst>
              <a:ext uri="{FF2B5EF4-FFF2-40B4-BE49-F238E27FC236}">
                <a16:creationId xmlns:a16="http://schemas.microsoft.com/office/drawing/2014/main" id="{A818F2D1-16A2-45E9-9B18-54768A20C4C0}"/>
              </a:ext>
            </a:extLst>
          </p:cNvPr>
          <p:cNvSpPr/>
          <p:nvPr/>
        </p:nvSpPr>
        <p:spPr>
          <a:xfrm>
            <a:off x="7524889" y="10027"/>
            <a:ext cx="4667111" cy="369332"/>
          </a:xfrm>
          <a:prstGeom prst="rect">
            <a:avLst/>
          </a:prstGeom>
        </p:spPr>
        <p:txBody>
          <a:bodyPr wrap="non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99AD7189-0212-44FD-9463-26052A9551F9}"/>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pic>
        <p:nvPicPr>
          <p:cNvPr id="13" name="Content Placeholder 12">
            <a:extLst>
              <a:ext uri="{FF2B5EF4-FFF2-40B4-BE49-F238E27FC236}">
                <a16:creationId xmlns:a16="http://schemas.microsoft.com/office/drawing/2014/main" id="{C6D70FA2-DCFB-0605-3A91-E313A3D390CC}"/>
              </a:ext>
            </a:extLst>
          </p:cNvPr>
          <p:cNvPicPr>
            <a:picLocks noGrp="1" noChangeAspect="1"/>
          </p:cNvPicPr>
          <p:nvPr>
            <p:ph idx="1"/>
          </p:nvPr>
        </p:nvPicPr>
        <p:blipFill>
          <a:blip r:embed="rId2"/>
          <a:srcRect l="307" t="4433" r="-307" b="1116"/>
          <a:stretch>
            <a:fillRect/>
          </a:stretch>
        </p:blipFill>
        <p:spPr>
          <a:xfrm>
            <a:off x="1961805" y="1521228"/>
            <a:ext cx="8512232" cy="4355869"/>
          </a:xfrm>
        </p:spPr>
      </p:pic>
    </p:spTree>
    <p:extLst>
      <p:ext uri="{BB962C8B-B14F-4D97-AF65-F5344CB8AC3E}">
        <p14:creationId xmlns:p14="http://schemas.microsoft.com/office/powerpoint/2010/main" val="2568791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FC5AB-3624-1AE8-B93E-8AE3F7FB2765}"/>
              </a:ext>
            </a:extLst>
          </p:cNvPr>
          <p:cNvSpPr>
            <a:spLocks noGrp="1"/>
          </p:cNvSpPr>
          <p:nvPr>
            <p:ph type="title"/>
          </p:nvPr>
        </p:nvSpPr>
        <p:spPr>
          <a:xfrm>
            <a:off x="2500646" y="548609"/>
            <a:ext cx="8911687" cy="902686"/>
          </a:xfrm>
        </p:spPr>
        <p:txBody>
          <a:bodyPr/>
          <a:lstStyle/>
          <a:p>
            <a:r>
              <a:rPr lang="en-IN" b="1" dirty="0">
                <a:solidFill>
                  <a:srgbClr val="0070C0"/>
                </a:solidFill>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92E71219-BE89-1956-3643-21FE463D985F}"/>
              </a:ext>
            </a:extLst>
          </p:cNvPr>
          <p:cNvSpPr>
            <a:spLocks noGrp="1"/>
          </p:cNvSpPr>
          <p:nvPr>
            <p:ph idx="1"/>
          </p:nvPr>
        </p:nvSpPr>
        <p:spPr>
          <a:xfrm>
            <a:off x="2585499" y="1694576"/>
            <a:ext cx="8915400" cy="4183090"/>
          </a:xfrm>
        </p:spPr>
        <p:txBody>
          <a:bodyPr>
            <a:normAutofit/>
          </a:bodyPr>
          <a:lstStyle/>
          <a:p>
            <a:pPr marL="0" indent="0">
              <a:spcBef>
                <a:spcPts val="0"/>
              </a:spcBef>
              <a:buNone/>
            </a:pPr>
            <a:r>
              <a:rPr lang="en-IN" sz="2000" b="1" dirty="0">
                <a:latin typeface="Times New Roman" panose="02020603050405020304" pitchFamily="18" charset="0"/>
                <a:cs typeface="Times New Roman" panose="02020603050405020304" pitchFamily="18" charset="0"/>
              </a:rPr>
              <a:t>Input: Original image O, Secret data M, Encryption Key Ke, Data Hiding key Kh , parameters </a:t>
            </a:r>
            <a:r>
              <a:rPr lang="el-GR" sz="2000" b="1" dirty="0">
                <a:latin typeface="Times New Roman" panose="02020603050405020304" pitchFamily="18" charset="0"/>
                <a:cs typeface="Times New Roman" panose="02020603050405020304" pitchFamily="18" charset="0"/>
              </a:rPr>
              <a:t>α </a:t>
            </a:r>
            <a:r>
              <a:rPr lang="en-IN" sz="2000" b="1" dirty="0">
                <a:latin typeface="Times New Roman" panose="02020603050405020304" pitchFamily="18" charset="0"/>
                <a:cs typeface="Times New Roman" panose="02020603050405020304" pitchFamily="18" charset="0"/>
              </a:rPr>
              <a:t>and </a:t>
            </a:r>
            <a:r>
              <a:rPr lang="el-GR" sz="2000" b="1" dirty="0">
                <a:latin typeface="Times New Roman" panose="02020603050405020304" pitchFamily="18" charset="0"/>
                <a:cs typeface="Times New Roman" panose="02020603050405020304" pitchFamily="18" charset="0"/>
              </a:rPr>
              <a:t>β </a:t>
            </a:r>
            <a:endParaRPr lang="en-IN" sz="2000" b="1"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endParaRPr lang="en-IN" sz="1900" b="1" u="sng"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r>
              <a:rPr lang="en-IN" sz="1900" b="1" u="sng" kern="100" dirty="0">
                <a:effectLst/>
                <a:latin typeface="Times New Roman" panose="02020603050405020304" pitchFamily="18" charset="0"/>
                <a:ea typeface="Calibri" panose="020F0502020204030204" pitchFamily="34" charset="0"/>
                <a:cs typeface="Times New Roman" panose="02020603050405020304" pitchFamily="18" charset="0"/>
              </a:rPr>
              <a:t>Phase 1: Image Encryption</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for </a:t>
            </a:r>
            <a:r>
              <a:rPr lang="en-IN" sz="1900" b="1" kern="1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 0 to M/s - 1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for j ← 0 to N/s - 1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Extract block B_{ij} from 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Generate random integer R_{ij} using K_e.</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Permute blocks using permutation sequence P generated from K_e.</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for each pixel O (p, q) ∈ B_{ij}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Encrypt: E p, q) ← (O (p, q) + R_{ij}) mod 256.</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end for</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end for</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end for</a:t>
            </a:r>
          </a:p>
          <a:p>
            <a:endParaRPr lang="en-IN" dirty="0"/>
          </a:p>
        </p:txBody>
      </p:sp>
      <p:sp>
        <p:nvSpPr>
          <p:cNvPr id="5" name="Rectangle 4">
            <a:extLst>
              <a:ext uri="{FF2B5EF4-FFF2-40B4-BE49-F238E27FC236}">
                <a16:creationId xmlns:a16="http://schemas.microsoft.com/office/drawing/2014/main" id="{6D3EDC54-D7BE-4EB3-B42E-A3359AD0D571}"/>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90073746-AB5E-47B0-8FE2-A2B742ED9C6F}"/>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1941212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7B21F8-8354-95D0-285A-018D7A3D334E}"/>
              </a:ext>
            </a:extLst>
          </p:cNvPr>
          <p:cNvSpPr>
            <a:spLocks noGrp="1"/>
          </p:cNvSpPr>
          <p:nvPr>
            <p:ph type="title"/>
          </p:nvPr>
        </p:nvSpPr>
        <p:spPr>
          <a:xfrm>
            <a:off x="2592924" y="805343"/>
            <a:ext cx="8911687" cy="5561901"/>
          </a:xfrm>
        </p:spPr>
        <p:txBody>
          <a:bodyPr>
            <a:noAutofit/>
          </a:bodyPr>
          <a:lstStyle/>
          <a:p>
            <a:r>
              <a:rPr lang="en-US" sz="1800" b="1" u="sng" dirty="0">
                <a:latin typeface="Times New Roman" panose="02020603050405020304" pitchFamily="18" charset="0"/>
                <a:cs typeface="Times New Roman" panose="02020603050405020304" pitchFamily="18" charset="0"/>
              </a:rPr>
              <a:t> Phase 2:PBTL-DE</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Divide I into equal size non-overlapping blocks.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Classify pixels into four groups: Pr, Ps, Pe, and Pn.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Label P_e using PBTL with parameters α and β</a:t>
            </a:r>
            <a:r>
              <a:rPr lang="en-US" sz="1800" b="1" dirty="0">
                <a:latin typeface="Times New Roman" panose="02020603050405020304" pitchFamily="18" charset="0"/>
                <a:cs typeface="Times New Roman" panose="02020603050405020304" pitchFamily="18" charset="0"/>
              </a:rPr>
              <a: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Construct the payload P, consisting of: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The secret data M,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The first β bits of each pixel in Pn,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- 8 bits in Ps.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for each pixel in Pe do: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 Calculate the difference value e.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b. Reconstruct the pixel by replacing α labeling bits and (8 - α) payload bits.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end for</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for each pixel in Pn do: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 Replace the first β bits with '0...0' (β zeros).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b. Keep the remaining (8 - β) bits unmodified.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end for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Convert α and β into binary bits.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Store the binary bits of α and β into Ps by bit replacement.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Output the marked image Î.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E4B89AA-664A-425A-BFDD-484E56DE90C3}"/>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0AF78AF2-067C-4368-8CE2-D6401A82F892}"/>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572009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48A6E-D4C4-4E07-9D66-AE242BEBEF4A}"/>
              </a:ext>
            </a:extLst>
          </p:cNvPr>
          <p:cNvSpPr>
            <a:spLocks noGrp="1"/>
          </p:cNvSpPr>
          <p:nvPr>
            <p:ph idx="1"/>
          </p:nvPr>
        </p:nvSpPr>
        <p:spPr>
          <a:xfrm>
            <a:off x="2215299" y="1219200"/>
            <a:ext cx="8653805" cy="3668486"/>
          </a:xfrm>
        </p:spPr>
        <p:txBody>
          <a:bodyPr>
            <a:normAutofit lnSpcReduction="10000"/>
          </a:bodyPr>
          <a:lstStyle/>
          <a:p>
            <a:pPr marL="0" indent="0">
              <a:buNone/>
            </a:pPr>
            <a:r>
              <a:rPr lang="en-IN" b="1" u="sng" dirty="0">
                <a:latin typeface="Times New Roman" panose="02020603050405020304" pitchFamily="18" charset="0"/>
                <a:cs typeface="Times New Roman" panose="02020603050405020304" pitchFamily="18" charset="0"/>
              </a:rPr>
              <a:t>Phase 3:Data Extraction and Image Recovery</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Data Extraction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1. Extract parameters α, β from P_s.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2. Separate P_e, P_n using labels.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3. Retrieve S from P_e.</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Image Recovery</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1. Restore P_s, P_n using auxiliary data.</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2. Reconstruct O (p, q) using P_r and difference values.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3. Reverse encryption: O (p, q) ← (E (p, q) – R_{ij}) mod 256.</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4. Undo block permutation using P.</a:t>
            </a:r>
          </a:p>
          <a:p>
            <a:pPr marL="0" indent="0">
              <a:spcBef>
                <a:spcPts val="0"/>
              </a:spcBef>
              <a:buNone/>
            </a:pP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Output: Recovered Image , Extracted Message</a:t>
            </a:r>
            <a:endParaRPr lang="en-GB" b="1" dirty="0">
              <a:latin typeface="Times New Roman" panose="02020603050405020304" pitchFamily="18" charset="0"/>
              <a:cs typeface="Times New Roman" panose="02020603050405020304" pitchFamily="18" charset="0"/>
            </a:endParaRPr>
          </a:p>
          <a:p>
            <a:pPr marL="0" indent="0">
              <a:buNone/>
            </a:pPr>
            <a:endParaRPr lang="en-GB" sz="2400" b="1" dirty="0"/>
          </a:p>
        </p:txBody>
      </p:sp>
      <p:sp>
        <p:nvSpPr>
          <p:cNvPr id="4" name="Rectangle 3">
            <a:extLst>
              <a:ext uri="{FF2B5EF4-FFF2-40B4-BE49-F238E27FC236}">
                <a16:creationId xmlns:a16="http://schemas.microsoft.com/office/drawing/2014/main" id="{24B8A1F5-D446-46E1-B983-A637BAC26CBF}"/>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7F236607-C42A-48CD-9722-A6760372736C}"/>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2569041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AC42-7DDE-F6D2-289E-22B24397F1A9}"/>
              </a:ext>
            </a:extLst>
          </p:cNvPr>
          <p:cNvSpPr>
            <a:spLocks noGrp="1"/>
          </p:cNvSpPr>
          <p:nvPr>
            <p:ph type="title"/>
          </p:nvPr>
        </p:nvSpPr>
        <p:spPr>
          <a:xfrm>
            <a:off x="2231571" y="838201"/>
            <a:ext cx="9273041" cy="838200"/>
          </a:xfrm>
        </p:spPr>
        <p:txBody>
          <a:bodyPr/>
          <a:lstStyle/>
          <a:p>
            <a:r>
              <a:rPr lang="en-US" b="1" dirty="0">
                <a:solidFill>
                  <a:srgbClr val="0070C0"/>
                </a:solidFill>
                <a:latin typeface="Times New Roman" panose="02020603050405020304" pitchFamily="18" charset="0"/>
                <a:cs typeface="Times New Roman" panose="02020603050405020304" pitchFamily="18" charset="0"/>
              </a:rPr>
              <a:t>PROS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EDA91A-09F9-2762-75E8-255843C1C828}"/>
              </a:ext>
            </a:extLst>
          </p:cNvPr>
          <p:cNvSpPr>
            <a:spLocks noGrp="1"/>
          </p:cNvSpPr>
          <p:nvPr>
            <p:ph idx="1"/>
          </p:nvPr>
        </p:nvSpPr>
        <p:spPr>
          <a:xfrm>
            <a:off x="2122714" y="2133600"/>
            <a:ext cx="9381898" cy="2960914"/>
          </a:xfrm>
        </p:spPr>
        <p:txBody>
          <a:bodyPr>
            <a:normAutofit/>
          </a:bodyPr>
          <a:lstStyle/>
          <a:p>
            <a:pPr algn="just"/>
            <a:r>
              <a:rPr lang="en-US" sz="2400" b="1" dirty="0">
                <a:latin typeface="Times New Roman" panose="02020603050405020304" pitchFamily="18" charset="0"/>
                <a:cs typeface="Times New Roman" panose="02020603050405020304" pitchFamily="18" charset="0"/>
              </a:rPr>
              <a:t>Lossless Image Restoration: </a:t>
            </a:r>
            <a:r>
              <a:rPr lang="en-US" sz="2400" dirty="0">
                <a:latin typeface="Times New Roman" panose="02020603050405020304" pitchFamily="18" charset="0"/>
                <a:cs typeface="Times New Roman" panose="02020603050405020304" pitchFamily="18" charset="0"/>
              </a:rPr>
              <a:t>The original image can be completely restored without any loss in quality, maintaining the image's integrity. </a:t>
            </a:r>
          </a:p>
          <a:p>
            <a:pPr algn="just"/>
            <a:r>
              <a:rPr lang="en-US" sz="2400" b="1" dirty="0">
                <a:latin typeface="Times New Roman" panose="02020603050405020304" pitchFamily="18" charset="0"/>
                <a:cs typeface="Times New Roman" panose="02020603050405020304" pitchFamily="18" charset="0"/>
              </a:rPr>
              <a:t>Enhanced Security:</a:t>
            </a:r>
            <a:r>
              <a:rPr lang="en-US" sz="2400" dirty="0">
                <a:latin typeface="Times New Roman" panose="02020603050405020304" pitchFamily="18" charset="0"/>
                <a:cs typeface="Times New Roman" panose="02020603050405020304" pitchFamily="18" charset="0"/>
              </a:rPr>
              <a:t> The method ensures high security by embedding data in encrypted images, protecting both the image and the hidden information from unauthorized access.</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6167E45-BE6F-4517-AE0D-778A1AD0EFB9}"/>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5162AA24-B764-4D6C-B736-00FF6EABC135}"/>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754877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8F2B-E2C0-26DC-E94C-6D68EE238A5E}"/>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CONS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50CD30-91DE-EB42-96C8-D336E334E313}"/>
              </a:ext>
            </a:extLst>
          </p:cNvPr>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Computational Complexity: </a:t>
            </a:r>
            <a:r>
              <a:rPr lang="en-US" sz="2400" dirty="0">
                <a:latin typeface="Times New Roman" panose="02020603050405020304" pitchFamily="18" charset="0"/>
                <a:cs typeface="Times New Roman" panose="02020603050405020304" pitchFamily="18" charset="0"/>
              </a:rPr>
              <a:t>The process involves multiple steps such as pixel grouping, labeling, and encryption, which can be computationally expensive and slow, particularly for large images.   </a:t>
            </a:r>
          </a:p>
          <a:p>
            <a:pPr algn="just"/>
            <a:r>
              <a:rPr lang="en-US" sz="2400" b="1" dirty="0">
                <a:latin typeface="Times New Roman" panose="02020603050405020304" pitchFamily="18" charset="0"/>
                <a:cs typeface="Times New Roman" panose="02020603050405020304" pitchFamily="18" charset="0"/>
              </a:rPr>
              <a:t>Key Dependency: </a:t>
            </a:r>
            <a:r>
              <a:rPr lang="en-US" sz="2400" dirty="0">
                <a:latin typeface="Times New Roman" panose="02020603050405020304" pitchFamily="18" charset="0"/>
                <a:cs typeface="Times New Roman" panose="02020603050405020304" pitchFamily="18" charset="0"/>
              </a:rPr>
              <a:t>Successful data extraction and image recovery depend on having both the encryption key and data-hiding key. If either key is lost, data recovery becomes impossible.</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2C99B20-01D4-495B-88DF-95A71980532B}"/>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CB6EC7E8-03E0-4966-A602-55A874EFBF9F}"/>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3282509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6A99-BC5F-E696-A870-A7BE0216E1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0D16CF-E6B5-38CE-BE3D-4BDBC729FB59}"/>
              </a:ext>
            </a:extLst>
          </p:cNvPr>
          <p:cNvSpPr>
            <a:spLocks noGrp="1"/>
          </p:cNvSpPr>
          <p:nvPr>
            <p:ph type="title"/>
          </p:nvPr>
        </p:nvSpPr>
        <p:spPr>
          <a:xfrm>
            <a:off x="1895302" y="2822281"/>
            <a:ext cx="9360131" cy="2353418"/>
          </a:xfrm>
        </p:spPr>
        <p:txBody>
          <a:bodyPr>
            <a:normAutofit/>
          </a:bodyPr>
          <a:lstStyle/>
          <a:p>
            <a:pPr algn="ctr"/>
            <a:r>
              <a:rPr lang="en-IN"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9D93D02-CAA6-3779-D6A0-6E6EF1AFD606}"/>
              </a:ext>
            </a:extLst>
          </p:cNvPr>
          <p:cNvSpPr/>
          <p:nvPr/>
        </p:nvSpPr>
        <p:spPr>
          <a:xfrm>
            <a:off x="2390845" y="1325250"/>
            <a:ext cx="8956423" cy="1015663"/>
          </a:xfrm>
          <a:prstGeom prst="rect">
            <a:avLst/>
          </a:prstGeom>
        </p:spPr>
        <p:txBody>
          <a:bodyPr wrap="square">
            <a:spAutoFit/>
          </a:bodyPr>
          <a:lstStyle/>
          <a:p>
            <a:r>
              <a:rPr lang="en-IN" sz="6000" b="1" dirty="0">
                <a:solidFill>
                  <a:srgbClr val="FF0000"/>
                </a:solidFill>
                <a:latin typeface="Times New Roman" panose="02020603050405020304" pitchFamily="18" charset="0"/>
                <a:cs typeface="Times New Roman" panose="02020603050405020304" pitchFamily="18" charset="0"/>
              </a:rPr>
              <a:t>PROPOSED METHOD 	</a:t>
            </a:r>
            <a:endParaRPr lang="en-GB" sz="6000" dirty="0"/>
          </a:p>
        </p:txBody>
      </p:sp>
    </p:spTree>
    <p:extLst>
      <p:ext uri="{BB962C8B-B14F-4D97-AF65-F5344CB8AC3E}">
        <p14:creationId xmlns:p14="http://schemas.microsoft.com/office/powerpoint/2010/main" val="3764902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6DF8-2BD6-5077-C47A-B4937DE66E9D}"/>
              </a:ext>
            </a:extLst>
          </p:cNvPr>
          <p:cNvSpPr>
            <a:spLocks noGrp="1"/>
          </p:cNvSpPr>
          <p:nvPr>
            <p:ph type="title"/>
          </p:nvPr>
        </p:nvSpPr>
        <p:spPr>
          <a:xfrm>
            <a:off x="1753985" y="624110"/>
            <a:ext cx="9750627" cy="863868"/>
          </a:xfrm>
        </p:spPr>
        <p:txBody>
          <a:bodyPr/>
          <a:lstStyle/>
          <a:p>
            <a:r>
              <a:rPr lang="en-IN" b="1" dirty="0">
                <a:solidFill>
                  <a:srgbClr val="002060"/>
                </a:solidFill>
                <a:latin typeface="Times New Roman" panose="02020603050405020304" pitchFamily="18" charset="0"/>
                <a:cs typeface="Times New Roman" panose="02020603050405020304" pitchFamily="18" charset="0"/>
              </a:rPr>
              <a:t>BLOCK DIAGRAM</a:t>
            </a:r>
          </a:p>
        </p:txBody>
      </p:sp>
      <p:sp>
        <p:nvSpPr>
          <p:cNvPr id="6" name="TextBox 5">
            <a:extLst>
              <a:ext uri="{FF2B5EF4-FFF2-40B4-BE49-F238E27FC236}">
                <a16:creationId xmlns:a16="http://schemas.microsoft.com/office/drawing/2014/main" id="{E74CDAE5-D28E-658F-B1AF-9A8C7617FDCA}"/>
              </a:ext>
            </a:extLst>
          </p:cNvPr>
          <p:cNvSpPr txBox="1"/>
          <p:nvPr/>
        </p:nvSpPr>
        <p:spPr>
          <a:xfrm>
            <a:off x="5442064" y="94018"/>
            <a:ext cx="67499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C3A4E3-E869-4FCA-2932-B21C0ACEB62D}"/>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id="{3583C024-BAE3-78DA-928E-9AFDCC7CF6D1}"/>
              </a:ext>
            </a:extLst>
          </p:cNvPr>
          <p:cNvPicPr>
            <a:picLocks noChangeAspect="1"/>
          </p:cNvPicPr>
          <p:nvPr/>
        </p:nvPicPr>
        <p:blipFill>
          <a:blip r:embed="rId2"/>
          <a:stretch>
            <a:fillRect/>
          </a:stretch>
        </p:blipFill>
        <p:spPr>
          <a:xfrm>
            <a:off x="687388" y="1363287"/>
            <a:ext cx="11324503" cy="5278582"/>
          </a:xfrm>
          <a:prstGeom prst="rect">
            <a:avLst/>
          </a:prstGeom>
        </p:spPr>
      </p:pic>
    </p:spTree>
    <p:extLst>
      <p:ext uri="{BB962C8B-B14F-4D97-AF65-F5344CB8AC3E}">
        <p14:creationId xmlns:p14="http://schemas.microsoft.com/office/powerpoint/2010/main" val="1139061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2A1F-20B3-6283-1F09-D08DB95EEB52}"/>
              </a:ext>
            </a:extLst>
          </p:cNvPr>
          <p:cNvSpPr>
            <a:spLocks noGrp="1"/>
          </p:cNvSpPr>
          <p:nvPr>
            <p:ph type="title"/>
          </p:nvPr>
        </p:nvSpPr>
        <p:spPr>
          <a:xfrm>
            <a:off x="2086495" y="739833"/>
            <a:ext cx="9418119" cy="723207"/>
          </a:xfrm>
        </p:spPr>
        <p:txBody>
          <a:bodyPr/>
          <a:lstStyle/>
          <a:p>
            <a:r>
              <a:rPr lang="en-IN" b="1" dirty="0">
                <a:solidFill>
                  <a:srgbClr val="002060"/>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F514E567-729A-F8B9-19FF-2ADD2130DC8A}"/>
              </a:ext>
            </a:extLst>
          </p:cNvPr>
          <p:cNvSpPr>
            <a:spLocks noGrp="1"/>
          </p:cNvSpPr>
          <p:nvPr>
            <p:ph idx="1"/>
          </p:nvPr>
        </p:nvSpPr>
        <p:spPr>
          <a:xfrm>
            <a:off x="2086495" y="1463039"/>
            <a:ext cx="9418117" cy="4655127"/>
          </a:xfrm>
        </p:spPr>
        <p:txBody>
          <a:bodyPr>
            <a:normAutofit/>
          </a:bodyPr>
          <a:lstStyle/>
          <a:p>
            <a:pPr marL="0" indent="0" algn="just">
              <a:buClr>
                <a:srgbClr val="002060"/>
              </a:buClr>
              <a:buNone/>
            </a:pPr>
            <a:r>
              <a:rPr lang="en-US" dirty="0">
                <a:latin typeface="Times New Roman" panose="02020603050405020304" pitchFamily="18" charset="0"/>
                <a:cs typeface="Times New Roman" panose="02020603050405020304" pitchFamily="18" charset="0"/>
              </a:rPr>
              <a:t>The proposed Reversible Data Hiding in Encrypted Images (RDHEI) method consists of three main phases:</a:t>
            </a:r>
          </a:p>
          <a:p>
            <a:pPr marL="0" indent="0" algn="just">
              <a:buClr>
                <a:srgbClr val="002060"/>
              </a:buClr>
              <a:buNone/>
            </a:pPr>
            <a:r>
              <a:rPr lang="en-US" b="1" dirty="0">
                <a:solidFill>
                  <a:srgbClr val="FF0000"/>
                </a:solidFill>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Original Image, Encryption Key Ke, Data Hiding Key Kd, Secret Message</a:t>
            </a:r>
          </a:p>
          <a:p>
            <a:pPr algn="just">
              <a:buAutoNum type="arabicPeriod"/>
            </a:pPr>
            <a:r>
              <a:rPr lang="en-IN" b="1" dirty="0">
                <a:solidFill>
                  <a:srgbClr val="7030A0"/>
                </a:solidFill>
                <a:latin typeface="Times New Roman" panose="02020603050405020304" pitchFamily="18" charset="0"/>
                <a:cs typeface="Times New Roman" panose="02020603050405020304" pitchFamily="18" charset="0"/>
              </a:rPr>
              <a:t>Image Encryption Phase (by the Content-Owner)</a:t>
            </a:r>
          </a:p>
          <a:p>
            <a:pPr algn="just">
              <a:buFont typeface="Wingdings 3" charset="2"/>
              <a:buAutoNum type="arabicPeriod"/>
            </a:pPr>
            <a:r>
              <a:rPr lang="en-IN" b="1" dirty="0">
                <a:solidFill>
                  <a:srgbClr val="7030A0"/>
                </a:solidFill>
                <a:latin typeface="Times New Roman" panose="02020603050405020304" pitchFamily="18" charset="0"/>
                <a:cs typeface="Times New Roman" panose="02020603050405020304" pitchFamily="18" charset="0"/>
              </a:rPr>
              <a:t>Data Embedding Phase(by the Content-Hider)</a:t>
            </a:r>
          </a:p>
          <a:p>
            <a:pPr algn="just">
              <a:buFont typeface="Wingdings 3" charset="2"/>
              <a:buAutoNum type="arabicPeriod"/>
            </a:pPr>
            <a:r>
              <a:rPr lang="en-US" b="1" dirty="0">
                <a:solidFill>
                  <a:srgbClr val="7030A0"/>
                </a:solidFill>
                <a:latin typeface="Times New Roman" panose="02020603050405020304" pitchFamily="18" charset="0"/>
                <a:cs typeface="Times New Roman" panose="02020603050405020304" pitchFamily="18" charset="0"/>
              </a:rPr>
              <a:t>Data Extraction &amp; Image Decryption Phase (by the Receiver)</a:t>
            </a:r>
            <a:endParaRPr lang="en-IN" b="1" dirty="0">
              <a:solidFill>
                <a:srgbClr val="7030A0"/>
              </a:solidFill>
              <a:latin typeface="Times New Roman" panose="02020603050405020304" pitchFamily="18" charset="0"/>
              <a:cs typeface="Times New Roman" panose="02020603050405020304" pitchFamily="18" charset="0"/>
            </a:endParaRPr>
          </a:p>
          <a:p>
            <a:pPr marL="0" indent="0" algn="just">
              <a:buNone/>
            </a:pPr>
            <a:r>
              <a:rPr lang="en-IN" b="1" dirty="0">
                <a:solidFill>
                  <a:srgbClr val="FF0000"/>
                </a:solidFill>
                <a:latin typeface="Times New Roman" panose="02020603050405020304" pitchFamily="18" charset="0"/>
                <a:cs typeface="Times New Roman" panose="02020603050405020304" pitchFamily="18" charset="0"/>
              </a:rPr>
              <a:t>OUTPUT: </a:t>
            </a:r>
            <a:r>
              <a:rPr lang="en-IN" dirty="0">
                <a:solidFill>
                  <a:schemeClr val="tx1"/>
                </a:solidFill>
                <a:latin typeface="Times New Roman" panose="02020603050405020304" pitchFamily="18" charset="0"/>
                <a:cs typeface="Times New Roman" panose="02020603050405020304" pitchFamily="18" charset="0"/>
              </a:rPr>
              <a:t>Recovered Image , Extracted Message</a:t>
            </a:r>
          </a:p>
          <a:p>
            <a:pPr marL="0" indent="0" algn="just">
              <a:buNone/>
            </a:pPr>
            <a:endParaRPr lang="en-IN"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63F180-8593-7ED7-4B16-32D2596C6248}"/>
              </a:ext>
            </a:extLst>
          </p:cNvPr>
          <p:cNvSpPr txBox="1"/>
          <p:nvPr/>
        </p:nvSpPr>
        <p:spPr>
          <a:xfrm>
            <a:off x="5325688" y="171026"/>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584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4612-01C4-A0C9-BFC1-646CEE9A7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22482-3A3E-F1EB-544C-E93A56BBCCD6}"/>
              </a:ext>
            </a:extLst>
          </p:cNvPr>
          <p:cNvSpPr>
            <a:spLocks noGrp="1"/>
          </p:cNvSpPr>
          <p:nvPr>
            <p:ph type="title"/>
          </p:nvPr>
        </p:nvSpPr>
        <p:spPr>
          <a:xfrm>
            <a:off x="1767713" y="739833"/>
            <a:ext cx="9736901" cy="723207"/>
          </a:xfrm>
        </p:spPr>
        <p:txBody>
          <a:bodyPr>
            <a:normAutofit/>
          </a:bodyPr>
          <a:lstStyle/>
          <a:p>
            <a:pPr algn="just"/>
            <a:r>
              <a:rPr lang="en-IN" sz="2800" b="1" u="sng" dirty="0">
                <a:solidFill>
                  <a:srgbClr val="7030A0"/>
                </a:solidFill>
                <a:latin typeface="Times New Roman" panose="02020603050405020304" pitchFamily="18" charset="0"/>
                <a:cs typeface="Times New Roman" panose="02020603050405020304" pitchFamily="18" charset="0"/>
              </a:rPr>
              <a:t>01.Image Encryption Phase (by the Content-Owner)</a:t>
            </a:r>
          </a:p>
        </p:txBody>
      </p:sp>
      <p:sp>
        <p:nvSpPr>
          <p:cNvPr id="3" name="Content Placeholder 2">
            <a:extLst>
              <a:ext uri="{FF2B5EF4-FFF2-40B4-BE49-F238E27FC236}">
                <a16:creationId xmlns:a16="http://schemas.microsoft.com/office/drawing/2014/main" id="{E2F6CE3F-EC85-3EE4-BC21-E659948E1D8A}"/>
              </a:ext>
            </a:extLst>
          </p:cNvPr>
          <p:cNvSpPr>
            <a:spLocks noGrp="1"/>
          </p:cNvSpPr>
          <p:nvPr>
            <p:ph idx="1"/>
          </p:nvPr>
        </p:nvSpPr>
        <p:spPr>
          <a:xfrm>
            <a:off x="1767713" y="1379149"/>
            <a:ext cx="9736901" cy="4655127"/>
          </a:xfrm>
        </p:spPr>
        <p:txBody>
          <a:bodyPr>
            <a:normAutofit fontScale="92500" lnSpcReduction="10000"/>
          </a:bodyPr>
          <a:lstStyle/>
          <a:p>
            <a:pPr marL="0" indent="0">
              <a:spcBef>
                <a:spcPts val="200"/>
              </a:spcBef>
              <a:spcAft>
                <a:spcPts val="200"/>
              </a:spcAft>
              <a:buNone/>
            </a:pPr>
            <a:r>
              <a:rPr lang="en-IN" sz="2000" b="1" dirty="0">
                <a:solidFill>
                  <a:srgbClr val="002060"/>
                </a:solidFill>
                <a:latin typeface="Times New Roman" panose="02020603050405020304" pitchFamily="18" charset="0"/>
                <a:cs typeface="Times New Roman" panose="02020603050405020304" pitchFamily="18" charset="0"/>
              </a:rPr>
              <a:t>01. Label Map Generation</a:t>
            </a:r>
          </a:p>
          <a:p>
            <a:pPr marL="0" indent="0">
              <a:spcBef>
                <a:spcPts val="200"/>
              </a:spcBef>
              <a:spcAft>
                <a:spcPts val="200"/>
              </a:spcAft>
              <a:buNone/>
            </a:pPr>
            <a:r>
              <a:rPr lang="en-IN" sz="8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 each pixel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Predict the pixel value using the </a:t>
            </a:r>
            <a:r>
              <a:rPr lang="en-IN" b="1" dirty="0">
                <a:latin typeface="Times New Roman" panose="02020603050405020304" pitchFamily="18" charset="0"/>
                <a:cs typeface="Times New Roman" panose="02020603050405020304" pitchFamily="18" charset="0"/>
              </a:rPr>
              <a:t>Median Edge Detector (MED) predictor</a:t>
            </a:r>
            <a:r>
              <a:rPr lang="en-IN" dirty="0">
                <a:latin typeface="Times New Roman" panose="02020603050405020304" pitchFamily="18" charset="0"/>
                <a:cs typeface="Times New Roman" panose="02020603050405020304" pitchFamily="18" charset="0"/>
              </a:rPr>
              <a:t>:</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max(x2, x3), if x1 ≤ min(x2, x3)</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min(x2, x3), if x1 ≥ max(x2, x3)</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 x2 + x3 − x1, otherwise</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ii. Convert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and </a:t>
            </a:r>
            <a:r>
              <a:rPr lang="en-IN" dirty="0" err="1">
                <a:latin typeface="Times New Roman" panose="02020603050405020304" pitchFamily="18" charset="0"/>
                <a:cs typeface="Times New Roman" panose="02020603050405020304" pitchFamily="18" charset="0"/>
              </a:rPr>
              <a:t>px</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into an 8-bit binary sequence:</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2^(9-k)) / 2^(8-k) ⌋ , k = 1,2,...,8</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iii. Compare bits from MSB to LSB until a difference is found.</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iv. Assign label t based on the number of identical MSBs:</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 = </a:t>
            </a:r>
            <a:r>
              <a:rPr lang="en-IN" b="1" dirty="0" err="1">
                <a:latin typeface="Times New Roman" panose="02020603050405020304" pitchFamily="18" charset="0"/>
                <a:cs typeface="Times New Roman" panose="02020603050405020304" pitchFamily="18" charset="0"/>
              </a:rPr>
              <a:t>arg</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max_t</a:t>
            </a:r>
            <a:r>
              <a:rPr lang="en-IN" b="1" dirty="0">
                <a:latin typeface="Times New Roman" panose="02020603050405020304" pitchFamily="18" charset="0"/>
                <a:cs typeface="Times New Roman" panose="02020603050405020304" pitchFamily="18" charset="0"/>
              </a:rPr>
              <a:t>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t = 0,1,2,...,8</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subject to:</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2^(8−t))</a:t>
            </a:r>
          </a:p>
          <a:p>
            <a:pPr marL="0" indent="0">
              <a:spcBef>
                <a:spcPts val="200"/>
              </a:spcBef>
              <a:spcAft>
                <a:spcPts val="200"/>
              </a:spcAft>
              <a:buNone/>
            </a:pP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2^(8−t))</a:t>
            </a:r>
          </a:p>
          <a:p>
            <a:pPr marL="0" indent="0">
              <a:spcBef>
                <a:spcPts val="200"/>
              </a:spcBef>
              <a:spcAft>
                <a:spcPts val="200"/>
              </a:spcAft>
              <a:buNone/>
            </a:pPr>
            <a:r>
              <a:rPr lang="en-IN" dirty="0">
                <a:latin typeface="Times New Roman" panose="02020603050405020304" pitchFamily="18" charset="0"/>
                <a:cs typeface="Times New Roman" panose="02020603050405020304" pitchFamily="18" charset="0"/>
              </a:rPr>
              <a:t>   Store the label map.</a:t>
            </a:r>
          </a:p>
          <a:p>
            <a:pPr marL="0" indent="0" algn="just">
              <a:buClr>
                <a:srgbClr val="002060"/>
              </a:buClr>
              <a:buNone/>
            </a:pP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6D5C94F-A78A-B0DA-187F-639F787DFEC7}"/>
              </a:ext>
            </a:extLst>
          </p:cNvPr>
          <p:cNvSpPr txBox="1"/>
          <p:nvPr/>
        </p:nvSpPr>
        <p:spPr>
          <a:xfrm>
            <a:off x="5325688" y="171026"/>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248FED6-B0BA-FE6E-2873-1D04F6713D07}"/>
              </a:ext>
            </a:extLst>
          </p:cNvPr>
          <p:cNvPicPr>
            <a:picLocks noChangeAspect="1"/>
          </p:cNvPicPr>
          <p:nvPr/>
        </p:nvPicPr>
        <p:blipFill>
          <a:blip r:embed="rId2"/>
          <a:stretch>
            <a:fillRect/>
          </a:stretch>
        </p:blipFill>
        <p:spPr>
          <a:xfrm>
            <a:off x="9378891" y="2372136"/>
            <a:ext cx="1462081" cy="917681"/>
          </a:xfrm>
          <a:prstGeom prst="rect">
            <a:avLst/>
          </a:prstGeom>
        </p:spPr>
      </p:pic>
      <p:pic>
        <p:nvPicPr>
          <p:cNvPr id="6" name="Picture 5">
            <a:extLst>
              <a:ext uri="{FF2B5EF4-FFF2-40B4-BE49-F238E27FC236}">
                <a16:creationId xmlns:a16="http://schemas.microsoft.com/office/drawing/2014/main" id="{58FB13F3-B2A8-EE23-1DD1-FE9783A9737E}"/>
              </a:ext>
            </a:extLst>
          </p:cNvPr>
          <p:cNvPicPr>
            <a:picLocks noChangeAspect="1"/>
          </p:cNvPicPr>
          <p:nvPr/>
        </p:nvPicPr>
        <p:blipFill>
          <a:blip r:embed="rId3"/>
          <a:stretch>
            <a:fillRect/>
          </a:stretch>
        </p:blipFill>
        <p:spPr>
          <a:xfrm>
            <a:off x="8261722" y="3803298"/>
            <a:ext cx="3011326" cy="970874"/>
          </a:xfrm>
          <a:prstGeom prst="rect">
            <a:avLst/>
          </a:prstGeom>
        </p:spPr>
      </p:pic>
    </p:spTree>
    <p:extLst>
      <p:ext uri="{BB962C8B-B14F-4D97-AF65-F5344CB8AC3E}">
        <p14:creationId xmlns:p14="http://schemas.microsoft.com/office/powerpoint/2010/main" val="1361539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09BC1E-6ABF-A192-7BA2-A0D3DC40FB0B}"/>
              </a:ext>
            </a:extLst>
          </p:cNvPr>
          <p:cNvSpPr>
            <a:spLocks noGrp="1"/>
          </p:cNvSpPr>
          <p:nvPr>
            <p:ph type="title"/>
          </p:nvPr>
        </p:nvSpPr>
        <p:spPr>
          <a:xfrm>
            <a:off x="2072082" y="889233"/>
            <a:ext cx="9013082" cy="789264"/>
          </a:xfrm>
        </p:spPr>
        <p:txBody>
          <a:bodyPr>
            <a:normAutofit/>
          </a:bodyPr>
          <a:lstStyle/>
          <a:p>
            <a:pPr marL="0" indent="0">
              <a:spcBef>
                <a:spcPts val="0"/>
              </a:spcBef>
              <a:spcAft>
                <a:spcPts val="200"/>
              </a:spcAft>
            </a:pPr>
            <a:r>
              <a:rPr lang="en-IN" sz="2400" b="1" u="sng" dirty="0">
                <a:solidFill>
                  <a:srgbClr val="7030A0"/>
                </a:solidFill>
                <a:latin typeface="Times New Roman" panose="02020603050405020304" pitchFamily="18" charset="0"/>
                <a:cs typeface="Times New Roman" panose="02020603050405020304" pitchFamily="18" charset="0"/>
              </a:rPr>
              <a:t>01.Image Encryption Phase (by the Content-Owner)</a:t>
            </a:r>
            <a:endParaRPr lang="en-IN" sz="2400" u="sng" dirty="0"/>
          </a:p>
        </p:txBody>
      </p:sp>
      <p:sp>
        <p:nvSpPr>
          <p:cNvPr id="2" name="Content Placeholder 1">
            <a:extLst>
              <a:ext uri="{FF2B5EF4-FFF2-40B4-BE49-F238E27FC236}">
                <a16:creationId xmlns:a16="http://schemas.microsoft.com/office/drawing/2014/main" id="{D5E7F2AD-B611-F21B-C8E4-F601FD2C8262}"/>
              </a:ext>
            </a:extLst>
          </p:cNvPr>
          <p:cNvSpPr>
            <a:spLocks noGrp="1"/>
          </p:cNvSpPr>
          <p:nvPr>
            <p:ph idx="1"/>
          </p:nvPr>
        </p:nvSpPr>
        <p:spPr>
          <a:xfrm>
            <a:off x="2072082" y="1551094"/>
            <a:ext cx="8702688" cy="4417673"/>
          </a:xfrm>
        </p:spPr>
        <p:txBody>
          <a:bodyPr>
            <a:normAutofit lnSpcReduction="10000"/>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02. Image Encryption:</a:t>
            </a:r>
            <a:br>
              <a:rPr lang="en-IN" sz="2200" b="1" dirty="0">
                <a:solidFill>
                  <a:srgbClr val="002060"/>
                </a:solidFill>
                <a:latin typeface="Times New Roman" panose="02020603050405020304" pitchFamily="18" charset="0"/>
                <a:cs typeface="Times New Roman" panose="02020603050405020304" pitchFamily="18" charset="0"/>
              </a:rPr>
            </a:br>
            <a:r>
              <a:rPr lang="en-IN" sz="2400" dirty="0">
                <a:solidFill>
                  <a:srgbClr val="7030A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 Generate a </a:t>
            </a:r>
            <a:r>
              <a:rPr lang="en-IN" b="1" dirty="0">
                <a:latin typeface="Times New Roman" panose="02020603050405020304" pitchFamily="18" charset="0"/>
                <a:cs typeface="Times New Roman" panose="02020603050405020304" pitchFamily="18" charset="0"/>
              </a:rPr>
              <a:t>pseudo-random matrix r </a:t>
            </a:r>
            <a:r>
              <a:rPr lang="en-IN" dirty="0">
                <a:latin typeface="Times New Roman" panose="02020603050405020304" pitchFamily="18" charset="0"/>
                <a:cs typeface="Times New Roman" panose="02020603050405020304" pitchFamily="18" charset="0"/>
              </a:rPr>
              <a:t>of size m × n using the encryption key </a:t>
            </a:r>
            <a:r>
              <a:rPr lang="en-IN" b="1" dirty="0">
                <a:latin typeface="Times New Roman" panose="02020603050405020304" pitchFamily="18" charset="0"/>
                <a:cs typeface="Times New Roman" panose="02020603050405020304" pitchFamily="18" charset="0"/>
              </a:rPr>
              <a:t>Ke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Convert each pixel x(</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and r(</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j) into an 8-bit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Encrypt pixel using </a:t>
            </a:r>
            <a:r>
              <a:rPr lang="en-IN" b="1" dirty="0">
                <a:latin typeface="Times New Roman" panose="02020603050405020304" pitchFamily="18" charset="0"/>
                <a:cs typeface="Times New Roman" panose="02020603050405020304" pitchFamily="18" charset="0"/>
              </a:rPr>
              <a:t>bitwise XOR </a:t>
            </a:r>
            <a:r>
              <a:rPr lang="en-IN" dirty="0">
                <a:latin typeface="Times New Roman" panose="02020603050405020304" pitchFamily="18" charset="0"/>
                <a:cs typeface="Times New Roman" panose="02020603050405020304" pitchFamily="18" charset="0"/>
              </a:rPr>
              <a:t>operation: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x_k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r_k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Compute the encrypted pixel value: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2^(8−k)),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 Store encrypted image </a:t>
            </a:r>
            <a:r>
              <a:rPr lang="en-IN" b="1" dirty="0">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solidFill>
                  <a:srgbClr val="002060"/>
                </a:solidFill>
                <a:latin typeface="Times New Roman" panose="02020603050405020304" pitchFamily="18" charset="0"/>
                <a:cs typeface="Times New Roman" panose="02020603050405020304" pitchFamily="18" charset="0"/>
              </a:rPr>
              <a:t>03. Compress Label Map using Huffman Coding:</a:t>
            </a:r>
            <a:br>
              <a:rPr lang="en-IN" sz="2000" b="1" dirty="0">
                <a:solidFill>
                  <a:srgbClr val="002060"/>
                </a:solidFill>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 Assign shorter codes to frequently occurring labels.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Convert label map into a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LM = ∑ (</a:t>
            </a:r>
            <a:r>
              <a:rPr lang="en-IN" b="1" dirty="0" err="1">
                <a:latin typeface="Times New Roman" panose="02020603050405020304" pitchFamily="18" charset="0"/>
                <a:cs typeface="Times New Roman" panose="02020603050405020304" pitchFamily="18" charset="0"/>
              </a:rPr>
              <a:t>n_t</a:t>
            </a: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c_t</a:t>
            </a:r>
            <a:r>
              <a:rPr lang="en-IN" b="1" dirty="0">
                <a:latin typeface="Times New Roman" panose="02020603050405020304" pitchFamily="18" charset="0"/>
                <a:cs typeface="Times New Roman" panose="02020603050405020304" pitchFamily="18" charset="0"/>
              </a:rPr>
              <a:t>),  t = 0,1,2,...,8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where </a:t>
            </a:r>
            <a:r>
              <a:rPr lang="en-IN" dirty="0" err="1">
                <a:latin typeface="Times New Roman" panose="02020603050405020304" pitchFamily="18" charset="0"/>
                <a:cs typeface="Times New Roman" panose="02020603050405020304" pitchFamily="18" charset="0"/>
              </a:rPr>
              <a:t>n_t</a:t>
            </a:r>
            <a:r>
              <a:rPr lang="en-IN" dirty="0">
                <a:latin typeface="Times New Roman" panose="02020603050405020304" pitchFamily="18" charset="0"/>
                <a:cs typeface="Times New Roman" panose="02020603050405020304" pitchFamily="18" charset="0"/>
              </a:rPr>
              <a:t> is the number of pixels with label t, and </a:t>
            </a:r>
            <a:r>
              <a:rPr lang="en-IN" dirty="0" err="1">
                <a:latin typeface="Times New Roman" panose="02020603050405020304" pitchFamily="18" charset="0"/>
                <a:cs typeface="Times New Roman" panose="02020603050405020304" pitchFamily="18" charset="0"/>
              </a:rPr>
              <a:t>c_t</a:t>
            </a:r>
            <a:r>
              <a:rPr lang="en-IN" dirty="0">
                <a:latin typeface="Times New Roman" panose="02020603050405020304" pitchFamily="18" charset="0"/>
                <a:cs typeface="Times New Roman" panose="02020603050405020304" pitchFamily="18" charset="0"/>
              </a:rPr>
              <a:t> is the length of the Huffman code.</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CA59602C-C7E8-3094-38AB-457B1677DD08}"/>
              </a:ext>
            </a:extLst>
          </p:cNvPr>
          <p:cNvSpPr txBox="1"/>
          <p:nvPr/>
        </p:nvSpPr>
        <p:spPr>
          <a:xfrm flipH="1">
            <a:off x="5474392" y="0"/>
            <a:ext cx="67767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052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5E608-A2AD-D060-7116-B059B19E044A}"/>
              </a:ext>
            </a:extLst>
          </p:cNvPr>
          <p:cNvSpPr>
            <a:spLocks noGrp="1"/>
          </p:cNvSpPr>
          <p:nvPr>
            <p:ph type="title"/>
          </p:nvPr>
        </p:nvSpPr>
        <p:spPr>
          <a:xfrm>
            <a:off x="1853966" y="746620"/>
            <a:ext cx="8568211" cy="830031"/>
          </a:xfrm>
        </p:spPr>
        <p:txBody>
          <a:bodyPr>
            <a:normAutofit/>
          </a:bodyPr>
          <a:lstStyle/>
          <a:p>
            <a:pPr>
              <a:spcBef>
                <a:spcPts val="200"/>
              </a:spcBef>
              <a:spcAft>
                <a:spcPts val="200"/>
              </a:spcAft>
            </a:pPr>
            <a:r>
              <a:rPr lang="en-IN" sz="2800" b="1" u="sng" dirty="0">
                <a:solidFill>
                  <a:srgbClr val="7030A0"/>
                </a:solidFill>
                <a:latin typeface="Times New Roman" panose="02020603050405020304" pitchFamily="18" charset="0"/>
                <a:cs typeface="Times New Roman" panose="02020603050405020304" pitchFamily="18" charset="0"/>
              </a:rPr>
              <a:t>01.Image Encryption Phase (by the Content-Owner)</a:t>
            </a:r>
            <a:endParaRPr lang="en-IN" sz="2800"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09F8D58-5917-A370-F272-FD1D3AB4ECD4}"/>
              </a:ext>
            </a:extLst>
          </p:cNvPr>
          <p:cNvSpPr>
            <a:spLocks noGrp="1"/>
          </p:cNvSpPr>
          <p:nvPr>
            <p:ph idx="1"/>
          </p:nvPr>
        </p:nvSpPr>
        <p:spPr>
          <a:xfrm>
            <a:off x="1853966" y="1576651"/>
            <a:ext cx="9650645" cy="4334571"/>
          </a:xfrm>
        </p:spPr>
        <p:txBody>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04. Embed Label Map into Encrypted Image:</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Convert the Huffman-encoded label map into a binary sequence.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Store Huffman coding rule and label map in </a:t>
            </a:r>
            <a:r>
              <a:rPr lang="en-IN" b="1" dirty="0">
                <a:latin typeface="Times New Roman" panose="02020603050405020304" pitchFamily="18" charset="0"/>
                <a:cs typeface="Times New Roman" panose="02020603050405020304" pitchFamily="18" charset="0"/>
              </a:rPr>
              <a:t>reference pixels</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Embed the remaining auxiliary information using </a:t>
            </a:r>
            <a:r>
              <a:rPr lang="en-IN" b="1" dirty="0">
                <a:latin typeface="Times New Roman" panose="02020603050405020304" pitchFamily="18" charset="0"/>
                <a:cs typeface="Times New Roman" panose="02020603050405020304" pitchFamily="18" charset="0"/>
              </a:rPr>
              <a:t>multi-MSB substitution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2^(7−t) + ∑(</a:t>
            </a:r>
            <a:r>
              <a:rPr lang="en-IN" b="1" dirty="0" err="1">
                <a:latin typeface="Times New Roman" panose="02020603050405020304" pitchFamily="18" charset="0"/>
                <a:cs typeface="Times New Roman" panose="02020603050405020304" pitchFamily="18" charset="0"/>
              </a:rPr>
              <a:t>b_s</a:t>
            </a:r>
            <a:r>
              <a:rPr lang="en-IN" b="1" dirty="0">
                <a:latin typeface="Times New Roman" panose="02020603050405020304" pitchFamily="18" charset="0"/>
                <a:cs typeface="Times New Roman" panose="02020603050405020304" pitchFamily="18" charset="0"/>
              </a:rPr>
              <a:t> × 2^(7−s)), 0 ≤ t ≤ 6</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b_s</a:t>
            </a:r>
            <a:r>
              <a:rPr lang="en-IN" b="1" dirty="0">
                <a:latin typeface="Times New Roman" panose="02020603050405020304" pitchFamily="18" charset="0"/>
                <a:cs typeface="Times New Roman" panose="02020603050405020304" pitchFamily="18" charset="0"/>
              </a:rPr>
              <a:t> × 2^(8−s)), 7 ≤ t ≤ 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where </a:t>
            </a:r>
            <a:r>
              <a:rPr lang="en-IN" dirty="0" err="1">
                <a:latin typeface="Times New Roman" panose="02020603050405020304" pitchFamily="18" charset="0"/>
                <a:cs typeface="Times New Roman" panose="02020603050405020304" pitchFamily="18" charset="0"/>
              </a:rPr>
              <a:t>b_s</a:t>
            </a:r>
            <a:r>
              <a:rPr lang="en-IN" dirty="0">
                <a:latin typeface="Times New Roman" panose="02020603050405020304" pitchFamily="18" charset="0"/>
                <a:cs typeface="Times New Roman" panose="02020603050405020304" pitchFamily="18" charset="0"/>
              </a:rPr>
              <a:t> represents auxiliary information bits.</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b="1" dirty="0">
                <a:solidFill>
                  <a:srgbClr val="7030A0"/>
                </a:solidFill>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110E007B-46C8-7FAC-8BE1-9809BAC0CBDE}"/>
              </a:ext>
            </a:extLst>
          </p:cNvPr>
          <p:cNvSpPr txBox="1"/>
          <p:nvPr/>
        </p:nvSpPr>
        <p:spPr>
          <a:xfrm>
            <a:off x="5506720" y="62038"/>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906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5E608-A2AD-D060-7116-B059B19E044A}"/>
              </a:ext>
            </a:extLst>
          </p:cNvPr>
          <p:cNvSpPr>
            <a:spLocks noGrp="1"/>
          </p:cNvSpPr>
          <p:nvPr>
            <p:ph type="title"/>
          </p:nvPr>
        </p:nvSpPr>
        <p:spPr>
          <a:xfrm>
            <a:off x="1753299" y="837721"/>
            <a:ext cx="9684201" cy="958222"/>
          </a:xfrm>
        </p:spPr>
        <p:txBody>
          <a:bodyPr>
            <a:normAutofit/>
          </a:bodyPr>
          <a:lstStyle/>
          <a:p>
            <a:pPr>
              <a:spcBef>
                <a:spcPts val="200"/>
              </a:spcBef>
              <a:spcAft>
                <a:spcPts val="200"/>
              </a:spcAft>
            </a:pPr>
            <a:r>
              <a:rPr lang="en-IN" sz="2800" b="1" u="sng" dirty="0">
                <a:solidFill>
                  <a:srgbClr val="7030A0"/>
                </a:solidFill>
                <a:latin typeface="Times New Roman" panose="02020603050405020304" pitchFamily="18" charset="0"/>
                <a:cs typeface="Times New Roman" panose="02020603050405020304" pitchFamily="18" charset="0"/>
              </a:rPr>
              <a:t>02.Data Embedding Phase(by the Content-Hider)</a:t>
            </a:r>
            <a:br>
              <a:rPr lang="en-IN" sz="2800" b="1" u="sng" dirty="0">
                <a:solidFill>
                  <a:srgbClr val="7030A0"/>
                </a:solidFill>
                <a:latin typeface="Times New Roman" panose="02020603050405020304" pitchFamily="18" charset="0"/>
                <a:cs typeface="Times New Roman" panose="02020603050405020304" pitchFamily="18" charset="0"/>
              </a:rPr>
            </a:br>
            <a:endParaRPr lang="en-IN" sz="2800" u="sng"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81893ACF-9F7B-59A2-C2DC-9BAD3A162323}"/>
              </a:ext>
            </a:extLst>
          </p:cNvPr>
          <p:cNvSpPr>
            <a:spLocks noGrp="1"/>
          </p:cNvSpPr>
          <p:nvPr>
            <p:ph idx="1"/>
          </p:nvPr>
        </p:nvSpPr>
        <p:spPr>
          <a:xfrm>
            <a:off x="1904301" y="1686187"/>
            <a:ext cx="9600311" cy="4225035"/>
          </a:xfrm>
        </p:spPr>
        <p:txBody>
          <a:bodyPr>
            <a:normAutofit/>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01. Hide Secret Data:</a:t>
            </a:r>
            <a:br>
              <a:rPr lang="en-IN"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Extract the </a:t>
            </a:r>
            <a:r>
              <a:rPr lang="en-IN" b="1" dirty="0">
                <a:latin typeface="Times New Roman" panose="02020603050405020304" pitchFamily="18" charset="0"/>
                <a:cs typeface="Times New Roman" panose="02020603050405020304" pitchFamily="18" charset="0"/>
              </a:rPr>
              <a:t>Huffman coding rule</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label map</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Compute the </a:t>
            </a:r>
            <a:r>
              <a:rPr lang="en-IN" b="1" dirty="0">
                <a:latin typeface="Times New Roman" panose="02020603050405020304" pitchFamily="18" charset="0"/>
                <a:cs typeface="Times New Roman" panose="02020603050405020304" pitchFamily="18" charset="0"/>
              </a:rPr>
              <a:t>embedding capacity</a:t>
            </a:r>
            <a:r>
              <a:rPr lang="en-IN" dirty="0">
                <a:latin typeface="Times New Roman" panose="02020603050405020304" pitchFamily="18" charset="0"/>
                <a:cs typeface="Times New Roman" panose="02020603050405020304" pitchFamily="18" charset="0"/>
              </a:rPr>
              <a:t> based on the label map.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Encrypt the additional data using the </a:t>
            </a:r>
            <a:r>
              <a:rPr lang="en-IN" b="1" dirty="0">
                <a:latin typeface="Times New Roman" panose="02020603050405020304" pitchFamily="18" charset="0"/>
                <a:cs typeface="Times New Roman" panose="02020603050405020304" pitchFamily="18" charset="0"/>
              </a:rPr>
              <a:t>data hiding key </a:t>
            </a:r>
            <a:r>
              <a:rPr lang="en-IN" b="1" dirty="0" err="1">
                <a:latin typeface="Times New Roman" panose="02020603050405020304" pitchFamily="18" charset="0"/>
                <a:cs typeface="Times New Roman" panose="02020603050405020304" pitchFamily="18" charset="0"/>
              </a:rPr>
              <a:t>Kd</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Embed data in encrypted image pixels using </a:t>
            </a:r>
            <a:r>
              <a:rPr lang="en-IN" b="1" dirty="0">
                <a:latin typeface="Times New Roman" panose="02020603050405020304" pitchFamily="18" charset="0"/>
                <a:cs typeface="Times New Roman" panose="02020603050405020304" pitchFamily="18" charset="0"/>
              </a:rPr>
              <a:t>multi-MSB substitution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 Store the </a:t>
            </a:r>
            <a:r>
              <a:rPr lang="en-IN" b="1" dirty="0">
                <a:latin typeface="Times New Roman" panose="02020603050405020304" pitchFamily="18" charset="0"/>
                <a:cs typeface="Times New Roman" panose="02020603050405020304" pitchFamily="18" charset="0"/>
              </a:rPr>
              <a:t>marked encrypted image </a:t>
            </a:r>
            <a:r>
              <a:rPr lang="en-IN" b="1" dirty="0" err="1">
                <a:latin typeface="Times New Roman" panose="02020603050405020304" pitchFamily="18" charset="0"/>
                <a:cs typeface="Times New Roman" panose="02020603050405020304" pitchFamily="18" charset="0"/>
              </a:rPr>
              <a:t>Iew</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110E007B-46C8-7FAC-8BE1-9809BAC0CBDE}"/>
              </a:ext>
            </a:extLst>
          </p:cNvPr>
          <p:cNvSpPr txBox="1"/>
          <p:nvPr/>
        </p:nvSpPr>
        <p:spPr>
          <a:xfrm>
            <a:off x="5506720" y="62038"/>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91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7716-F7BB-E8E1-A7BE-ED99798FD16D}"/>
              </a:ext>
            </a:extLst>
          </p:cNvPr>
          <p:cNvSpPr>
            <a:spLocks noGrp="1"/>
          </p:cNvSpPr>
          <p:nvPr>
            <p:ph type="title"/>
          </p:nvPr>
        </p:nvSpPr>
        <p:spPr>
          <a:xfrm>
            <a:off x="1761688" y="624110"/>
            <a:ext cx="10192623" cy="1028521"/>
          </a:xfrm>
        </p:spPr>
        <p:txBody>
          <a:bodyPr>
            <a:noAutofit/>
          </a:bodyPr>
          <a:lstStyle/>
          <a:p>
            <a:pPr>
              <a:spcBef>
                <a:spcPts val="200"/>
              </a:spcBef>
              <a:spcAft>
                <a:spcPts val="200"/>
              </a:spcAft>
            </a:pPr>
            <a:r>
              <a:rPr lang="en-US" sz="2800" b="1" u="sng" dirty="0">
                <a:solidFill>
                  <a:srgbClr val="7030A0"/>
                </a:solidFill>
                <a:latin typeface="Times New Roman" panose="02020603050405020304" pitchFamily="18" charset="0"/>
                <a:cs typeface="Times New Roman" panose="02020603050405020304" pitchFamily="18" charset="0"/>
              </a:rPr>
              <a:t>03.Data Extraction &amp; Image Decryption Phase (by the Receiver)</a:t>
            </a:r>
            <a:br>
              <a:rPr lang="en-IN" sz="2800" b="1" u="sng" dirty="0">
                <a:solidFill>
                  <a:srgbClr val="7030A0"/>
                </a:solidFill>
                <a:latin typeface="Times New Roman" panose="02020603050405020304" pitchFamily="18" charset="0"/>
                <a:cs typeface="Times New Roman" panose="02020603050405020304" pitchFamily="18" charset="0"/>
              </a:rPr>
            </a:br>
            <a:endParaRPr lang="en-IN" sz="28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BB9CD9-76B5-3538-7DDE-313FB09FDE20}"/>
              </a:ext>
            </a:extLst>
          </p:cNvPr>
          <p:cNvSpPr>
            <a:spLocks noGrp="1"/>
          </p:cNvSpPr>
          <p:nvPr>
            <p:ph idx="1"/>
          </p:nvPr>
        </p:nvSpPr>
        <p:spPr>
          <a:xfrm>
            <a:off x="1761688" y="1652631"/>
            <a:ext cx="9742924" cy="4258591"/>
          </a:xfrm>
        </p:spPr>
        <p:txBody>
          <a:bodyPr>
            <a:normAutofit fontScale="92500" lnSpcReduction="10000"/>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01.Extract Data:</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Extract Huffman coding rule and label map from </a:t>
            </a:r>
            <a:r>
              <a:rPr lang="en-IN" b="1" dirty="0" err="1">
                <a:latin typeface="Times New Roman" panose="02020603050405020304" pitchFamily="18" charset="0"/>
                <a:cs typeface="Times New Roman" panose="02020603050405020304" pitchFamily="18" charset="0"/>
              </a:rPr>
              <a:t>Iew</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Extract embedded data by the </a:t>
            </a:r>
            <a:r>
              <a:rPr lang="en-IN" b="1" dirty="0">
                <a:latin typeface="Times New Roman" panose="02020603050405020304" pitchFamily="18" charset="0"/>
                <a:cs typeface="Times New Roman" panose="02020603050405020304" pitchFamily="18" charset="0"/>
              </a:rPr>
              <a:t>data hiding key </a:t>
            </a:r>
            <a:r>
              <a:rPr lang="en-IN" b="1" dirty="0" err="1">
                <a:latin typeface="Times New Roman" panose="02020603050405020304" pitchFamily="18" charset="0"/>
                <a:cs typeface="Times New Roman" panose="02020603050405020304" pitchFamily="18" charset="0"/>
              </a:rPr>
              <a:t>Kd</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2000" b="1" dirty="0">
                <a:solidFill>
                  <a:srgbClr val="002060"/>
                </a:solidFill>
                <a:latin typeface="Times New Roman" panose="02020603050405020304" pitchFamily="18" charset="0"/>
                <a:cs typeface="Times New Roman" panose="02020603050405020304" pitchFamily="18" charset="0"/>
              </a:rPr>
              <a:t>02. Recover Original Image:</a:t>
            </a:r>
            <a:br>
              <a:rPr lang="en-IN" sz="2000" b="1" dirty="0">
                <a:solidFill>
                  <a:srgbClr val="00206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Decrypt the encrypted pixels using </a:t>
            </a:r>
            <a:r>
              <a:rPr lang="en-IN" b="1" dirty="0">
                <a:latin typeface="Times New Roman" panose="02020603050405020304" pitchFamily="18" charset="0"/>
                <a:cs typeface="Times New Roman" panose="02020603050405020304" pitchFamily="18" charset="0"/>
              </a:rPr>
              <a:t>Ke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x_enc_k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r>
              <a:rPr lang="en-IN" b="1" dirty="0" err="1">
                <a:latin typeface="Times New Roman" panose="02020603050405020304" pitchFamily="18" charset="0"/>
                <a:cs typeface="Times New Roman" panose="02020603050405020304" pitchFamily="18" charset="0"/>
              </a:rPr>
              <a:t>r_k</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k = 1,2,...,8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 Use the extracted </a:t>
            </a:r>
            <a:r>
              <a:rPr lang="en-IN" b="1" dirty="0">
                <a:latin typeface="Times New Roman" panose="02020603050405020304" pitchFamily="18" charset="0"/>
                <a:cs typeface="Times New Roman" panose="02020603050405020304" pitchFamily="18" charset="0"/>
              </a:rPr>
              <a:t>label map</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MED predictor</a:t>
            </a:r>
            <a:r>
              <a:rPr lang="en-IN" dirty="0">
                <a:latin typeface="Times New Roman" panose="02020603050405020304" pitchFamily="18" charset="0"/>
                <a:cs typeface="Times New Roman" panose="02020603050405020304" pitchFamily="18" charset="0"/>
              </a:rPr>
              <a:t> to reconstruct the original pixel: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x(</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j)_</a:t>
            </a:r>
            <a:r>
              <a:rPr lang="en-IN" b="1" dirty="0" err="1">
                <a:latin typeface="Times New Roman" panose="02020603050405020304" pitchFamily="18" charset="0"/>
                <a:cs typeface="Times New Roman" panose="02020603050405020304" pitchFamily="18" charset="0"/>
              </a:rPr>
              <a:t>tMSB</a:t>
            </a:r>
            <a:r>
              <a:rPr lang="en-IN" b="1" dirty="0">
                <a:latin typeface="Times New Roman" panose="02020603050405020304" pitchFamily="18" charset="0"/>
                <a:cs typeface="Times New Roman" panose="02020603050405020304" pitchFamily="18" charset="0"/>
              </a:rPr>
              <a:t> + b_(t+1) × 2^(7−t) + </a:t>
            </a:r>
            <a:r>
              <a:rPr lang="en-IN" b="1" dirty="0" err="1">
                <a:latin typeface="Times New Roman" panose="02020603050405020304" pitchFamily="18" charset="0"/>
                <a:cs typeface="Times New Roman" panose="02020603050405020304" pitchFamily="18" charset="0"/>
              </a:rPr>
              <a:t>x'_enc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mod 2^(7−t),  0 ≤ t ≤ 7</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t = 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 Recover the </a:t>
            </a:r>
            <a:r>
              <a:rPr lang="en-IN" b="1" dirty="0">
                <a:latin typeface="Times New Roman" panose="02020603050405020304" pitchFamily="18" charset="0"/>
                <a:cs typeface="Times New Roman" panose="02020603050405020304" pitchFamily="18" charset="0"/>
              </a:rPr>
              <a:t>MSBs</a:t>
            </a:r>
            <a:r>
              <a:rPr lang="en-IN" dirty="0">
                <a:latin typeface="Times New Roman" panose="02020603050405020304" pitchFamily="18" charset="0"/>
                <a:cs typeface="Times New Roman" panose="02020603050405020304" pitchFamily="18" charset="0"/>
              </a:rPr>
              <a:t> of each pixel: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b_(t+1) =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0, if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_(t+1)(</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1</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 1, if </a:t>
            </a:r>
            <a:r>
              <a:rPr lang="en-IN" b="1" dirty="0" err="1">
                <a:latin typeface="Times New Roman" panose="02020603050405020304" pitchFamily="18" charset="0"/>
                <a:cs typeface="Times New Roman" panose="02020603050405020304" pitchFamily="18" charset="0"/>
              </a:rPr>
              <a:t>px</a:t>
            </a:r>
            <a:r>
              <a:rPr lang="en-IN" b="1" dirty="0">
                <a:latin typeface="Times New Roman" panose="02020603050405020304" pitchFamily="18" charset="0"/>
                <a:cs typeface="Times New Roman" panose="02020603050405020304" pitchFamily="18" charset="0"/>
              </a:rPr>
              <a:t>_(t+1)(</a:t>
            </a:r>
            <a:r>
              <a:rPr lang="en-IN" b="1" dirty="0" err="1">
                <a:latin typeface="Times New Roman" panose="02020603050405020304" pitchFamily="18" charset="0"/>
                <a:cs typeface="Times New Roman" panose="02020603050405020304" pitchFamily="18" charset="0"/>
              </a:rPr>
              <a:t>i</a:t>
            </a:r>
            <a:r>
              <a:rPr lang="en-IN" b="1" dirty="0">
                <a:latin typeface="Times New Roman" panose="02020603050405020304" pitchFamily="18" charset="0"/>
                <a:cs typeface="Times New Roman" panose="02020603050405020304" pitchFamily="18" charset="0"/>
              </a:rPr>
              <a:t>, j) = 0</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 Restore the </a:t>
            </a:r>
            <a:r>
              <a:rPr lang="en-IN" b="1" dirty="0">
                <a:latin typeface="Times New Roman" panose="02020603050405020304" pitchFamily="18" charset="0"/>
                <a:cs typeface="Times New Roman" panose="02020603050405020304" pitchFamily="18" charset="0"/>
              </a:rPr>
              <a:t>original image </a:t>
            </a:r>
            <a:r>
              <a:rPr lang="en-IN" b="1" dirty="0" err="1">
                <a:latin typeface="Times New Roman" panose="02020603050405020304" pitchFamily="18" charset="0"/>
                <a:cs typeface="Times New Roman" panose="02020603050405020304" pitchFamily="18" charset="0"/>
              </a:rPr>
              <a:t>losslessly</a:t>
            </a:r>
            <a:r>
              <a:rPr lang="en-IN" dirty="0">
                <a:latin typeface="Times New Roman" panose="02020603050405020304" pitchFamily="18" charset="0"/>
                <a:cs typeface="Times New Roman" panose="02020603050405020304" pitchFamily="18" charset="0"/>
              </a:rPr>
              <a:t>.</a:t>
            </a:r>
            <a:endParaRPr lang="en-IN" dirty="0"/>
          </a:p>
        </p:txBody>
      </p:sp>
      <p:sp>
        <p:nvSpPr>
          <p:cNvPr id="5" name="TextBox 4">
            <a:extLst>
              <a:ext uri="{FF2B5EF4-FFF2-40B4-BE49-F238E27FC236}">
                <a16:creationId xmlns:a16="http://schemas.microsoft.com/office/drawing/2014/main" id="{5C296A85-F6E1-1858-5EEF-C39FAC4E8BA7}"/>
              </a:ext>
            </a:extLst>
          </p:cNvPr>
          <p:cNvSpPr txBox="1"/>
          <p:nvPr/>
        </p:nvSpPr>
        <p:spPr>
          <a:xfrm>
            <a:off x="5503229" y="0"/>
            <a:ext cx="668877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016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34148-8BD8-C64F-0650-F78265C95115}"/>
              </a:ext>
            </a:extLst>
          </p:cNvPr>
          <p:cNvSpPr>
            <a:spLocks noGrp="1"/>
          </p:cNvSpPr>
          <p:nvPr>
            <p:ph type="title"/>
          </p:nvPr>
        </p:nvSpPr>
        <p:spPr>
          <a:xfrm>
            <a:off x="1862357" y="624110"/>
            <a:ext cx="9642256" cy="701351"/>
          </a:xfrm>
        </p:spPr>
        <p:txBody>
          <a:bodyPr/>
          <a:lstStyle/>
          <a:p>
            <a:r>
              <a:rPr lang="en-IN" b="1" dirty="0">
                <a:solidFill>
                  <a:srgbClr val="002060"/>
                </a:solidFill>
                <a:latin typeface="Times New Roman" panose="02020603050405020304" pitchFamily="18" charset="0"/>
                <a:cs typeface="Times New Roman" panose="02020603050405020304" pitchFamily="18" charset="0"/>
              </a:rPr>
              <a:t>RESULTS &amp; DISCUSSION</a:t>
            </a:r>
          </a:p>
        </p:txBody>
      </p:sp>
      <p:pic>
        <p:nvPicPr>
          <p:cNvPr id="5" name="Content Placeholder 4">
            <a:extLst>
              <a:ext uri="{FF2B5EF4-FFF2-40B4-BE49-F238E27FC236}">
                <a16:creationId xmlns:a16="http://schemas.microsoft.com/office/drawing/2014/main" id="{89511DC4-6478-8DE5-AF5C-5A5F8F9E63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3240" y="1670107"/>
            <a:ext cx="9479560" cy="4185407"/>
          </a:xfrm>
        </p:spPr>
      </p:pic>
      <p:sp>
        <p:nvSpPr>
          <p:cNvPr id="7" name="TextBox 6">
            <a:extLst>
              <a:ext uri="{FF2B5EF4-FFF2-40B4-BE49-F238E27FC236}">
                <a16:creationId xmlns:a16="http://schemas.microsoft.com/office/drawing/2014/main" id="{F1D0A41B-6B28-AF10-CC2C-2CBE31F706E1}"/>
              </a:ext>
            </a:extLst>
          </p:cNvPr>
          <p:cNvSpPr txBox="1"/>
          <p:nvPr/>
        </p:nvSpPr>
        <p:spPr>
          <a:xfrm>
            <a:off x="5528346" y="48631"/>
            <a:ext cx="66636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767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078A8AC-23F4-6609-3B86-1377E55CBCED}"/>
              </a:ext>
            </a:extLst>
          </p:cNvPr>
          <p:cNvSpPr>
            <a:spLocks noGrp="1"/>
          </p:cNvSpPr>
          <p:nvPr>
            <p:ph type="title"/>
          </p:nvPr>
        </p:nvSpPr>
        <p:spPr>
          <a:xfrm>
            <a:off x="1853967" y="624110"/>
            <a:ext cx="9650645" cy="667795"/>
          </a:xfrm>
        </p:spPr>
        <p:txBody>
          <a:bodyPr>
            <a:normAutofit/>
          </a:bodyPr>
          <a:lstStyle/>
          <a:p>
            <a:r>
              <a:rPr lang="en-IN" sz="2800" b="1" dirty="0">
                <a:solidFill>
                  <a:srgbClr val="7030A0"/>
                </a:solidFill>
                <a:latin typeface="Times New Roman" panose="02020603050405020304" pitchFamily="18" charset="0"/>
                <a:cs typeface="Times New Roman" panose="02020603050405020304" pitchFamily="18" charset="0"/>
              </a:rPr>
              <a:t>HISTOGRAMS OF LENA IMAGE</a:t>
            </a:r>
          </a:p>
        </p:txBody>
      </p:sp>
      <p:pic>
        <p:nvPicPr>
          <p:cNvPr id="5" name="Content Placeholder 4">
            <a:extLst>
              <a:ext uri="{FF2B5EF4-FFF2-40B4-BE49-F238E27FC236}">
                <a16:creationId xmlns:a16="http://schemas.microsoft.com/office/drawing/2014/main" id="{4254E5A4-4478-F25F-ABE3-6CF3BADC6F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3" r="623"/>
          <a:stretch/>
        </p:blipFill>
        <p:spPr>
          <a:xfrm>
            <a:off x="1853967" y="1468122"/>
            <a:ext cx="8568000" cy="3921755"/>
          </a:xfrm>
        </p:spPr>
      </p:pic>
      <p:sp>
        <p:nvSpPr>
          <p:cNvPr id="10" name="TextBox 9">
            <a:extLst>
              <a:ext uri="{FF2B5EF4-FFF2-40B4-BE49-F238E27FC236}">
                <a16:creationId xmlns:a16="http://schemas.microsoft.com/office/drawing/2014/main" id="{FAAACAE3-7DA9-7068-71C4-ECF3DF4A565D}"/>
              </a:ext>
            </a:extLst>
          </p:cNvPr>
          <p:cNvSpPr txBox="1"/>
          <p:nvPr/>
        </p:nvSpPr>
        <p:spPr>
          <a:xfrm>
            <a:off x="5547920" y="-13772"/>
            <a:ext cx="66440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153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2C2C7-C1A6-6D5B-3C96-3EAA634C684F}"/>
              </a:ext>
            </a:extLst>
          </p:cNvPr>
          <p:cNvSpPr>
            <a:spLocks noGrp="1"/>
          </p:cNvSpPr>
          <p:nvPr>
            <p:ph type="title"/>
          </p:nvPr>
        </p:nvSpPr>
        <p:spPr>
          <a:xfrm>
            <a:off x="1828801" y="755009"/>
            <a:ext cx="9675812" cy="679508"/>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LABEL HUFFMAN CODING FOR THE LENA IMAGE</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Capacity (bits) = Label +1 if Label&lt; 7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                            Label if Label = 8</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Code Length (bits) = Length of the Huffman Code of Label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Payload (bits) = Capacity (bits) – Code Length (bits)</a:t>
            </a:r>
            <a:endParaRPr lang="en-IN" sz="2200" b="1" dirty="0">
              <a:solidFill>
                <a:srgbClr val="7030A0"/>
              </a:solidFill>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B2630A66-3DC8-6E17-CB3F-1B647D64857E}"/>
              </a:ext>
            </a:extLst>
          </p:cNvPr>
          <p:cNvPicPr>
            <a:picLocks noGrp="1" noChangeAspect="1"/>
          </p:cNvPicPr>
          <p:nvPr>
            <p:ph idx="1"/>
          </p:nvPr>
        </p:nvPicPr>
        <p:blipFill>
          <a:blip r:embed="rId2"/>
          <a:stretch>
            <a:fillRect/>
          </a:stretch>
        </p:blipFill>
        <p:spPr>
          <a:xfrm>
            <a:off x="1828801" y="1434517"/>
            <a:ext cx="8306959" cy="2924583"/>
          </a:xfrm>
        </p:spPr>
      </p:pic>
      <p:sp>
        <p:nvSpPr>
          <p:cNvPr id="12" name="TextBox 11">
            <a:extLst>
              <a:ext uri="{FF2B5EF4-FFF2-40B4-BE49-F238E27FC236}">
                <a16:creationId xmlns:a16="http://schemas.microsoft.com/office/drawing/2014/main" id="{35E5D235-965A-0625-D995-EF718DBEA75C}"/>
              </a:ext>
            </a:extLst>
          </p:cNvPr>
          <p:cNvSpPr txBox="1"/>
          <p:nvPr/>
        </p:nvSpPr>
        <p:spPr>
          <a:xfrm>
            <a:off x="5419287" y="0"/>
            <a:ext cx="677271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419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F5B9-7EAF-7D5A-F6D6-5A22BAD38BF5}"/>
              </a:ext>
            </a:extLst>
          </p:cNvPr>
          <p:cNvSpPr>
            <a:spLocks noGrp="1"/>
          </p:cNvSpPr>
          <p:nvPr>
            <p:ph type="title"/>
          </p:nvPr>
        </p:nvSpPr>
        <p:spPr>
          <a:xfrm>
            <a:off x="2130805" y="624110"/>
            <a:ext cx="9373808" cy="1280890"/>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THE EMBEDDING CAPACITY AND AUXILIARY INFORMATION OF DIFFERENT TEST IMAGES</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Total Embedding Capacity = Sum( Distribution * Capacity(bits))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Label Map Length = Sum (Distribution * Code length(bits))</a:t>
            </a:r>
            <a:br>
              <a:rPr lang="en-IN" sz="2000" dirty="0">
                <a:solidFill>
                  <a:schemeClr val="tx1"/>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Net Payload(bpp) = Total Embedding Capacity – Label Map Length</a:t>
            </a:r>
            <a:endParaRPr lang="en-IN" sz="2000" dirty="0">
              <a:solidFill>
                <a:schemeClr val="tx1"/>
              </a:solidFill>
            </a:endParaRPr>
          </a:p>
        </p:txBody>
      </p:sp>
      <p:pic>
        <p:nvPicPr>
          <p:cNvPr id="5" name="Content Placeholder 4">
            <a:extLst>
              <a:ext uri="{FF2B5EF4-FFF2-40B4-BE49-F238E27FC236}">
                <a16:creationId xmlns:a16="http://schemas.microsoft.com/office/drawing/2014/main" id="{090776A5-3EDA-8263-8C6A-B2D24C578D6E}"/>
              </a:ext>
            </a:extLst>
          </p:cNvPr>
          <p:cNvPicPr>
            <a:picLocks noGrp="1" noChangeAspect="1"/>
          </p:cNvPicPr>
          <p:nvPr>
            <p:ph idx="1"/>
          </p:nvPr>
        </p:nvPicPr>
        <p:blipFill>
          <a:blip r:embed="rId2"/>
          <a:stretch>
            <a:fillRect/>
          </a:stretch>
        </p:blipFill>
        <p:spPr>
          <a:xfrm>
            <a:off x="2236877" y="1740017"/>
            <a:ext cx="8915400" cy="3212984"/>
          </a:xfrm>
        </p:spPr>
      </p:pic>
      <p:sp>
        <p:nvSpPr>
          <p:cNvPr id="6" name="TextBox 5">
            <a:extLst>
              <a:ext uri="{FF2B5EF4-FFF2-40B4-BE49-F238E27FC236}">
                <a16:creationId xmlns:a16="http://schemas.microsoft.com/office/drawing/2014/main" id="{AE196DBB-8AC7-7415-F7CA-F0C57D43A6B1}"/>
              </a:ext>
            </a:extLst>
          </p:cNvPr>
          <p:cNvSpPr txBox="1"/>
          <p:nvPr/>
        </p:nvSpPr>
        <p:spPr>
          <a:xfrm>
            <a:off x="5511567" y="58723"/>
            <a:ext cx="686550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289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036CF-6E3F-0A4C-EB66-1C59C7DD455A}"/>
              </a:ext>
            </a:extLst>
          </p:cNvPr>
          <p:cNvSpPr>
            <a:spLocks noGrp="1"/>
          </p:cNvSpPr>
          <p:nvPr>
            <p:ph type="title"/>
          </p:nvPr>
        </p:nvSpPr>
        <p:spPr>
          <a:xfrm>
            <a:off x="2155971" y="624110"/>
            <a:ext cx="9348641" cy="530074"/>
          </a:xfrm>
        </p:spPr>
        <p:txBody>
          <a:bodyPr>
            <a:normAutofit fontScale="90000"/>
          </a:bodyPr>
          <a:lstStyle/>
          <a:p>
            <a:r>
              <a:rPr lang="en-IN" sz="2800" b="1" dirty="0">
                <a:solidFill>
                  <a:srgbClr val="7030A0"/>
                </a:solidFill>
                <a:latin typeface="Times New Roman" panose="02020603050405020304" pitchFamily="18" charset="0"/>
                <a:cs typeface="Times New Roman" panose="02020603050405020304" pitchFamily="18" charset="0"/>
              </a:rPr>
              <a:t>PERFORMANCE METRICS OF LENA IMAGE</a:t>
            </a: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br>
              <a:rPr lang="en-IN" sz="2800" b="1" dirty="0">
                <a:solidFill>
                  <a:srgbClr val="7030A0"/>
                </a:solidFill>
                <a:latin typeface="Times New Roman" panose="02020603050405020304" pitchFamily="18" charset="0"/>
                <a:cs typeface="Times New Roman" panose="02020603050405020304" pitchFamily="18" charset="0"/>
              </a:rPr>
            </a:br>
            <a:r>
              <a:rPr lang="en-IN" sz="2200" b="1" dirty="0">
                <a:solidFill>
                  <a:srgbClr val="0070C0"/>
                </a:solidFill>
                <a:latin typeface="Times New Roman" panose="02020603050405020304" pitchFamily="18" charset="0"/>
                <a:cs typeface="Times New Roman" panose="02020603050405020304" pitchFamily="18" charset="0"/>
              </a:rPr>
              <a:t>01.PSNR : Peak Signal - to – Noise Ratio</a:t>
            </a: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r>
              <a:rPr lang="en-IN" sz="2200" b="1" dirty="0">
                <a:solidFill>
                  <a:srgbClr val="0070C0"/>
                </a:solidFill>
                <a:latin typeface="Times New Roman" panose="02020603050405020304" pitchFamily="18" charset="0"/>
                <a:cs typeface="Times New Roman" panose="02020603050405020304" pitchFamily="18" charset="0"/>
              </a:rPr>
              <a:t>02.SSIM : Structural Similarity Index</a:t>
            </a:r>
            <a:br>
              <a:rPr lang="en-IN" sz="2200" b="1" dirty="0">
                <a:solidFill>
                  <a:srgbClr val="0070C0"/>
                </a:solidFill>
                <a:latin typeface="Times New Roman" panose="02020603050405020304" pitchFamily="18" charset="0"/>
                <a:cs typeface="Times New Roman" panose="02020603050405020304" pitchFamily="18" charset="0"/>
              </a:rPr>
            </a:br>
            <a:br>
              <a:rPr lang="en-IN" sz="2200" b="1" dirty="0">
                <a:solidFill>
                  <a:srgbClr val="0070C0"/>
                </a:solidFill>
                <a:latin typeface="Times New Roman" panose="02020603050405020304" pitchFamily="18" charset="0"/>
                <a:cs typeface="Times New Roman" panose="02020603050405020304" pitchFamily="18" charset="0"/>
              </a:rPr>
            </a:br>
            <a:endParaRPr lang="en-IN" sz="2200" b="1" dirty="0">
              <a:solidFill>
                <a:srgbClr val="0070C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7523475-AB78-5A48-C52A-67A7FD700628}"/>
              </a:ext>
            </a:extLst>
          </p:cNvPr>
          <p:cNvPicPr>
            <a:picLocks noGrp="1" noChangeAspect="1"/>
          </p:cNvPicPr>
          <p:nvPr>
            <p:ph idx="1"/>
          </p:nvPr>
        </p:nvPicPr>
        <p:blipFill>
          <a:blip r:embed="rId2"/>
          <a:srcRect t="44938" b="431"/>
          <a:stretch/>
        </p:blipFill>
        <p:spPr>
          <a:xfrm>
            <a:off x="2256639" y="1300038"/>
            <a:ext cx="8122067" cy="1116000"/>
          </a:xfrm>
        </p:spPr>
      </p:pic>
      <p:sp>
        <p:nvSpPr>
          <p:cNvPr id="6" name="Rectangle: Rounded Corners 5">
            <a:extLst>
              <a:ext uri="{FF2B5EF4-FFF2-40B4-BE49-F238E27FC236}">
                <a16:creationId xmlns:a16="http://schemas.microsoft.com/office/drawing/2014/main" id="{CE8D10C5-DBBB-3BE8-003D-A381B6FA8990}"/>
              </a:ext>
            </a:extLst>
          </p:cNvPr>
          <p:cNvSpPr/>
          <p:nvPr/>
        </p:nvSpPr>
        <p:spPr>
          <a:xfrm>
            <a:off x="2256639" y="3038915"/>
            <a:ext cx="5346332" cy="107796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latin typeface="Times New Roman" panose="02020603050405020304" pitchFamily="18" charset="0"/>
                <a:cs typeface="Times New Roman" panose="02020603050405020304" pitchFamily="18" charset="0"/>
              </a:rPr>
              <a:t>PSNR = 10 × log₁₀(MAX²/MSE) Db</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a:t>
            </a:r>
            <a:r>
              <a:rPr lang="nn-NO" sz="1800" b="1" dirty="0">
                <a:latin typeface="Times New Roman" panose="02020603050405020304" pitchFamily="18" charset="0"/>
                <a:cs typeface="Times New Roman" panose="02020603050405020304" pitchFamily="18" charset="0"/>
              </a:rPr>
              <a:t>MSE = (1/(m×n)) × ∑∑[I(i,j) - R(i,j)]²</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where MSE is Mean Square Error</a:t>
            </a:r>
            <a:endParaRPr lang="en-IN" dirty="0"/>
          </a:p>
        </p:txBody>
      </p:sp>
      <p:sp>
        <p:nvSpPr>
          <p:cNvPr id="7" name="Rectangle: Rounded Corners 6">
            <a:extLst>
              <a:ext uri="{FF2B5EF4-FFF2-40B4-BE49-F238E27FC236}">
                <a16:creationId xmlns:a16="http://schemas.microsoft.com/office/drawing/2014/main" id="{F99C8618-D228-A9E5-D41D-A8C1E41A2726}"/>
              </a:ext>
            </a:extLst>
          </p:cNvPr>
          <p:cNvSpPr/>
          <p:nvPr/>
        </p:nvSpPr>
        <p:spPr>
          <a:xfrm>
            <a:off x="2256639" y="4839750"/>
            <a:ext cx="7139031" cy="86406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cv2.quality.QualitySSIM_compute(original, recovered)[0]</a:t>
            </a:r>
          </a:p>
          <a:p>
            <a:pPr algn="ctr"/>
            <a:r>
              <a:rPr lang="en-IN" b="1" dirty="0">
                <a:latin typeface="Times New Roman" panose="02020603050405020304" pitchFamily="18" charset="0"/>
                <a:cs typeface="Times New Roman" panose="02020603050405020304" pitchFamily="18" charset="0"/>
              </a:rPr>
              <a:t>(Built-in function)</a:t>
            </a:r>
          </a:p>
        </p:txBody>
      </p:sp>
      <p:sp>
        <p:nvSpPr>
          <p:cNvPr id="9" name="TextBox 8">
            <a:extLst>
              <a:ext uri="{FF2B5EF4-FFF2-40B4-BE49-F238E27FC236}">
                <a16:creationId xmlns:a16="http://schemas.microsoft.com/office/drawing/2014/main" id="{D7A69953-0365-85B6-6E4D-A8C04F7AEA9C}"/>
              </a:ext>
            </a:extLst>
          </p:cNvPr>
          <p:cNvSpPr txBox="1"/>
          <p:nvPr/>
        </p:nvSpPr>
        <p:spPr>
          <a:xfrm>
            <a:off x="5528346" y="31841"/>
            <a:ext cx="66636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620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234F7F-A37C-0AE3-7696-AC98300D56DA}"/>
              </a:ext>
            </a:extLst>
          </p:cNvPr>
          <p:cNvSpPr>
            <a:spLocks noGrp="1"/>
          </p:cNvSpPr>
          <p:nvPr>
            <p:ph type="title"/>
          </p:nvPr>
        </p:nvSpPr>
        <p:spPr>
          <a:xfrm>
            <a:off x="2147581" y="624110"/>
            <a:ext cx="9357031" cy="847243"/>
          </a:xfrm>
        </p:spPr>
        <p:txBody>
          <a:bodyPr/>
          <a:lstStyle/>
          <a:p>
            <a:r>
              <a:rPr lang="en-IN" b="1" dirty="0">
                <a:solidFill>
                  <a:srgbClr val="002060"/>
                </a:solidFill>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269A3346-BA27-3A1B-0297-BFED5F283AEF}"/>
              </a:ext>
            </a:extLst>
          </p:cNvPr>
          <p:cNvSpPr>
            <a:spLocks noGrp="1"/>
          </p:cNvSpPr>
          <p:nvPr>
            <p:ph idx="1"/>
          </p:nvPr>
        </p:nvSpPr>
        <p:spPr>
          <a:xfrm>
            <a:off x="2147581" y="1471353"/>
            <a:ext cx="9357029" cy="264253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proposed RDHEI method effectively enhances embedding capacity by utilizing multi-MSB prediction and Huffman coding. It ensures error-free data extraction and perfect image recovery while significantly improving payload performance. By compressing auxiliary data efficiently, the method maximizes the space available for embedding.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278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F5A8-55AA-54E5-199B-7956577716D3}"/>
              </a:ext>
            </a:extLst>
          </p:cNvPr>
          <p:cNvSpPr>
            <a:spLocks noGrp="1"/>
          </p:cNvSpPr>
          <p:nvPr>
            <p:ph type="title"/>
          </p:nvPr>
        </p:nvSpPr>
        <p:spPr>
          <a:xfrm>
            <a:off x="1992087" y="624110"/>
            <a:ext cx="9512526" cy="725719"/>
          </a:xfrm>
        </p:spPr>
        <p:txBody>
          <a:bodyPr/>
          <a:lstStyle/>
          <a:p>
            <a:r>
              <a:rPr lang="en-IN" b="1" dirty="0">
                <a:solidFill>
                  <a:srgbClr val="00206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A2EC1FC-80C8-6776-1E47-89DC31C35916}"/>
              </a:ext>
            </a:extLst>
          </p:cNvPr>
          <p:cNvSpPr>
            <a:spLocks noGrp="1"/>
          </p:cNvSpPr>
          <p:nvPr>
            <p:ph idx="1"/>
          </p:nvPr>
        </p:nvSpPr>
        <p:spPr>
          <a:xfrm>
            <a:off x="1992086" y="1469571"/>
            <a:ext cx="9512526" cy="4441651"/>
          </a:xfrm>
        </p:spPr>
        <p:txBody>
          <a:bodyPr>
            <a:normAutofit/>
          </a:bodyPr>
          <a:lstStyle/>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r>
              <a:rPr lang="en-US" dirty="0">
                <a:latin typeface="Times New Roman" panose="02020603050405020304" pitchFamily="18" charset="0"/>
                <a:cs typeface="Times New Roman" panose="02020603050405020304" pitchFamily="18" charset="0"/>
              </a:rPr>
              <a:t>,” IEEE Trans. Inf. Forensics Secur., vol. 13, no. 7, pp. 1067–1681, Jan. 2018.</a:t>
            </a:r>
          </a:p>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EPE-based huge-capacity reversible data hiding in encrypted images,</a:t>
            </a:r>
            <a:r>
              <a:rPr lang="en-US" dirty="0">
                <a:latin typeface="Times New Roman" panose="02020603050405020304" pitchFamily="18" charset="0"/>
                <a:cs typeface="Times New Roman" panose="02020603050405020304" pitchFamily="18" charset="0"/>
              </a:rPr>
              <a:t>” in Proc. IEEE Int. Workshop Inf. Forensics Secur., Dec. 2018, pp. 1–7</a:t>
            </a:r>
            <a:r>
              <a:rPr lang="en-US" dirty="0"/>
              <a:t>.</a:t>
            </a:r>
          </a:p>
          <a:p>
            <a:pPr algn="just"/>
            <a:r>
              <a:rPr lang="en-IN" dirty="0">
                <a:latin typeface="Times New Roman" panose="02020603050405020304" pitchFamily="18" charset="0"/>
                <a:cs typeface="Times New Roman" panose="02020603050405020304" pitchFamily="18" charset="0"/>
              </a:rPr>
              <a:t>Y. Puyang, Z. Yin, and Z. Qian, “</a:t>
            </a:r>
            <a:r>
              <a:rPr lang="en-IN" b="1" dirty="0">
                <a:latin typeface="Times New Roman" panose="02020603050405020304" pitchFamily="18" charset="0"/>
                <a:cs typeface="Times New Roman" panose="02020603050405020304" pitchFamily="18" charset="0"/>
              </a:rPr>
              <a:t>Reversible data hiding in encrypted images with two-MSB prediction</a:t>
            </a:r>
            <a:r>
              <a:rPr lang="en-IN" dirty="0">
                <a:latin typeface="Times New Roman" panose="02020603050405020304" pitchFamily="18" charset="0"/>
                <a:cs typeface="Times New Roman" panose="02020603050405020304" pitchFamily="18" charset="0"/>
              </a:rPr>
              <a:t>,” in Proc. IEEE Int. Workshop Inf. Forensics </a:t>
            </a:r>
            <a:r>
              <a:rPr lang="en-IN" dirty="0" err="1">
                <a:latin typeface="Times New Roman" panose="02020603050405020304" pitchFamily="18" charset="0"/>
                <a:cs typeface="Times New Roman" panose="02020603050405020304" pitchFamily="18" charset="0"/>
              </a:rPr>
              <a:t>Secur</a:t>
            </a:r>
            <a:r>
              <a:rPr lang="en-IN" dirty="0">
                <a:latin typeface="Times New Roman" panose="02020603050405020304" pitchFamily="18" charset="0"/>
                <a:cs typeface="Times New Roman" panose="02020603050405020304" pitchFamily="18" charset="0"/>
              </a:rPr>
              <a:t>., Dec. 2018, pp. 1–7</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 .Yi and Y. Zhou, “</a:t>
            </a:r>
            <a:r>
              <a:rPr lang="en-US" b="1" dirty="0">
                <a:latin typeface="Times New Roman" panose="02020603050405020304" pitchFamily="18" charset="0"/>
                <a:cs typeface="Times New Roman" panose="02020603050405020304" pitchFamily="18" charset="0"/>
              </a:rPr>
              <a:t>Separable and reversible data hiding in encrypted images using parametric binary tree labeling</a:t>
            </a:r>
            <a:r>
              <a:rPr lang="en-US" dirty="0">
                <a:latin typeface="Times New Roman" panose="02020603050405020304" pitchFamily="18" charset="0"/>
                <a:cs typeface="Times New Roman" panose="02020603050405020304" pitchFamily="18" charset="0"/>
              </a:rPr>
              <a:t>,” IEEE Trans. Multimedia, vol. 21, no. 1, pp. 51–64, Jan. 2019</a:t>
            </a:r>
            <a:r>
              <a:rPr lang="en-US" dirty="0"/>
              <a:t>.</a:t>
            </a:r>
          </a:p>
          <a:p>
            <a:pPr algn="just"/>
            <a:r>
              <a:rPr lang="en-US" dirty="0">
                <a:latin typeface="Times New Roman" panose="02020603050405020304" pitchFamily="18" charset="0"/>
                <a:cs typeface="Times New Roman" panose="02020603050405020304" pitchFamily="18" charset="0"/>
              </a:rPr>
              <a:t>K. Chen and C. C. Chang, “</a:t>
            </a:r>
            <a:r>
              <a:rPr lang="en-US" b="1" dirty="0">
                <a:latin typeface="Times New Roman" panose="02020603050405020304" pitchFamily="18" charset="0"/>
                <a:cs typeface="Times New Roman" panose="02020603050405020304" pitchFamily="18" charset="0"/>
              </a:rPr>
              <a:t>High-capacity reversible data hiding in encrypted images based on extended run-length coding and block-based MSB plane rearrangement,” </a:t>
            </a:r>
            <a:r>
              <a:rPr lang="en-US" dirty="0">
                <a:latin typeface="Times New Roman" panose="02020603050405020304" pitchFamily="18" charset="0"/>
                <a:cs typeface="Times New Roman" panose="02020603050405020304" pitchFamily="18" charset="0"/>
              </a:rPr>
              <a:t>J. Vis. Commun. Image Representation, vol. 58, pp. 334–344, 2019</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549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569-B205-F995-4003-0F751466AAFA}"/>
              </a:ext>
            </a:extLst>
          </p:cNvPr>
          <p:cNvSpPr>
            <a:spLocks noGrp="1"/>
          </p:cNvSpPr>
          <p:nvPr>
            <p:ph type="title"/>
          </p:nvPr>
        </p:nvSpPr>
        <p:spPr>
          <a:xfrm>
            <a:off x="2592924" y="624109"/>
            <a:ext cx="8911687" cy="4821193"/>
          </a:xfrm>
        </p:spPr>
        <p:txBody>
          <a:bodyPr>
            <a:normAutofit fontScale="90000"/>
          </a:bodyPr>
          <a:lstStyle/>
          <a:p>
            <a:r>
              <a:rPr lang="en-IN" dirty="0"/>
              <a:t> </a:t>
            </a:r>
            <a:br>
              <a:rPr lang="en-IN" dirty="0"/>
            </a:br>
            <a:br>
              <a:rPr lang="en-IN" dirty="0"/>
            </a:br>
            <a:br>
              <a:rPr lang="en-IN" dirty="0"/>
            </a:br>
            <a:br>
              <a:rPr lang="en-IN" dirty="0"/>
            </a:br>
            <a:r>
              <a:rPr lang="en-IN" sz="10700" b="1" dirty="0">
                <a:latin typeface="Times New Roman" panose="02020603050405020304" pitchFamily="18" charset="0"/>
                <a:cs typeface="Times New Roman" panose="02020603050405020304" pitchFamily="18" charset="0"/>
              </a:rPr>
              <a:t>THANK YOU</a:t>
            </a:r>
            <a:br>
              <a:rPr lang="en-IN" sz="8000" b="1" dirty="0">
                <a:latin typeface="Baskerville Old Face" panose="02020602080505020303" pitchFamily="18" charset="0"/>
              </a:rPr>
            </a:br>
            <a:br>
              <a:rPr lang="en-IN" sz="8000" b="1" dirty="0">
                <a:latin typeface="Baskerville Old Face" panose="02020602080505020303" pitchFamily="18" charset="0"/>
              </a:rPr>
            </a:br>
            <a:br>
              <a:rPr lang="en-IN" dirty="0"/>
            </a:br>
            <a:br>
              <a:rPr lang="en-IN" dirty="0"/>
            </a:b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109483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22</TotalTime>
  <Words>3576</Words>
  <Application>Microsoft Office PowerPoint</Application>
  <PresentationFormat>Widescreen</PresentationFormat>
  <Paragraphs>254</Paragraphs>
  <Slides>43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Baskerville Old Face</vt:lpstr>
      <vt:lpstr>Calibri</vt:lpstr>
      <vt:lpstr>Century Gothic</vt:lpstr>
      <vt:lpstr>Times New Roman</vt:lpstr>
      <vt:lpstr>Wingdings 3</vt:lpstr>
      <vt:lpstr>Wisp</vt:lpstr>
      <vt:lpstr>REVERSIBLE DATA HIDING IN ENCRYPTED IMAGES BASED ON MULTI-MSB PREDICTION AND HUFFMAN CODING </vt:lpstr>
      <vt:lpstr>CONTENTS</vt:lpstr>
      <vt:lpstr>ABSTRACT</vt:lpstr>
      <vt:lpstr>KEYWORDS</vt:lpstr>
      <vt:lpstr>REVERSIBLE DATA HIDING:</vt:lpstr>
      <vt:lpstr>ENCRYPTED IMAGES:</vt:lpstr>
      <vt:lpstr>PRIVACY PROTECTION:</vt:lpstr>
      <vt:lpstr>HUFFMAN CODING:</vt:lpstr>
      <vt:lpstr>LITERATURE SURVEY</vt:lpstr>
      <vt:lpstr>EXISTING METHODS </vt:lpstr>
      <vt:lpstr>HIGH - CAPACITY REVERSIBLE DATA HIDING IN ENCRYPTED IMAGES</vt:lpstr>
      <vt:lpstr>01. HIGH - CAPACITY REVERSIBLE DATA HIDING IN ENCRYPTED IMAGES</vt:lpstr>
      <vt:lpstr>BLOCK DIAGRAM</vt:lpstr>
      <vt:lpstr>ALGORITHM</vt:lpstr>
      <vt:lpstr>PowerPoint Presentation</vt:lpstr>
      <vt:lpstr>PowerPoint Presentation</vt:lpstr>
      <vt:lpstr>05.(b)Image recovery Generate pseudo-random sequence s (i, j) using K_e for each pixel pew (i, j) in Iew do     Decrypt pixel: p'(i, j) ← pew (i, j) XOR s (i, j)     Predict MSB using adjacent pixels:     Δ0 ← |pred (i, j) - p'(i, j) MSB=0|     Δ1 ← |pred (i, j) - p'(i, j) MSB=1|     if Δ0 &lt; Δ1 then         Assign p'(i, j) ← p'(i, j) MSB=0     else         Assign p'(i, j) ← p'(i, j) MSB=1     end if end for  Output: Recovered Image , Extracted Message </vt:lpstr>
      <vt:lpstr>PROS</vt:lpstr>
      <vt:lpstr>CONS</vt:lpstr>
      <vt:lpstr>RDHEI USING  PARAMETRIC BINARY TREE LABELING</vt:lpstr>
      <vt:lpstr>02.RDHEI USING PARAMETRIC BINARY TREE LABELING</vt:lpstr>
      <vt:lpstr>BLOCK DIAGRAM</vt:lpstr>
      <vt:lpstr>ALGORITHM</vt:lpstr>
      <vt:lpstr> Phase 2:PBTL-DE   Divide I into equal size non-overlapping blocks.    Classify pixels into four groups: Pr, Ps, Pe, and Pn.   Label P_e using PBTL with parameters α and β   Construct the payload P, consisting of:          - The secret data M,          - The first β bits of each pixel in Pn,          - 8 bits in Ps.    for each pixel in Pe do:          a. Calculate the difference value e.          b. Reconstruct the pixel by replacing α labeling bits and (8 - α) payload bits.    end for  for each pixel in Pn do:          a. Replace the first β bits with '0...0' (β zeros).          b. Keep the remaining (8 - β) bits unmodified.    end for   Convert α and β into binary bits.    Store the binary bits of α and β into Ps by bit replacement.    Output the marked image Î.  </vt:lpstr>
      <vt:lpstr>PowerPoint Presentation</vt:lpstr>
      <vt:lpstr>PROS</vt:lpstr>
      <vt:lpstr>CONS</vt:lpstr>
      <vt:lpstr>REVERSIBLE DATA HIDING IN ENCRYPTED IMAGES BASED ON MULTI-MSB PREDICTION AND HUFFMAN CODING </vt:lpstr>
      <vt:lpstr>BLOCK DIAGRAM</vt:lpstr>
      <vt:lpstr>MODULES</vt:lpstr>
      <vt:lpstr>01.Image Encryption Phase (by the Content-Owner)</vt:lpstr>
      <vt:lpstr>01.Image Encryption Phase (by the Content-Owner)</vt:lpstr>
      <vt:lpstr>01.Image Encryption Phase (by the Content-Owner)</vt:lpstr>
      <vt:lpstr>02.Data Embedding Phase(by the Content-Hider) </vt:lpstr>
      <vt:lpstr>03.Data Extraction &amp; Image Decryption Phase (by the Receiver) </vt:lpstr>
      <vt:lpstr>RESULTS &amp; DISCUSSION</vt:lpstr>
      <vt:lpstr>HISTOGRAMS OF LENA IMAGE</vt:lpstr>
      <vt:lpstr>LABEL HUFFMAN CODING FOR THE LENA IMAGE          Capacity (bits) = Label +1 if Label&lt; 7                              Label if Label = 8 Code Length (bits) = Length of the Huffman Code of Label  Payload (bits) = Capacity (bits) – Code Length (bits)</vt:lpstr>
      <vt:lpstr>THE EMBEDDING CAPACITY AND AUXILIARY INFORMATION OF DIFFERENT TEST IMAGES           Total Embedding Capacity = Sum( Distribution * Capacity(bits)) Label Map Length = Sum (Distribution * Code length(bits)) Net Payload(bpp) = Total Embedding Capacity – Label Map Length</vt:lpstr>
      <vt:lpstr>PERFORMANCE METRICS OF LENA IMAGE     01.PSNR : Peak Signal - to – Noise Ratio      02.SSIM : Structural Similarity Index  </vt:lpstr>
      <vt:lpstr>CONCLUSION</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Vishnukaivalya Gudapati</dc:creator>
  <cp:lastModifiedBy>Vishnukaivalya Gudapati</cp:lastModifiedBy>
  <cp:revision>3</cp:revision>
  <dcterms:created xsi:type="dcterms:W3CDTF">2025-06-12T07:34:18Z</dcterms:created>
  <dcterms:modified xsi:type="dcterms:W3CDTF">2025-06-12T07:57:12Z</dcterms:modified>
</cp:coreProperties>
</file>