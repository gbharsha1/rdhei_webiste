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14"/>
  </p:notesMasterIdLst>
  <p:sldIdLst>
    <p:sldId id="256" r:id="rId2"/>
    <p:sldId id="257" r:id="rId3"/>
    <p:sldId id="258" r:id="rId4"/>
    <p:sldId id="259" r:id="rId5"/>
    <p:sldId id="262" r:id="rId6"/>
    <p:sldId id="261"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notesViewPr>
    <p:cSldViewPr snapToGrid="0">
      <p:cViewPr>
        <p:scale>
          <a:sx n="70" d="100"/>
          <a:sy n="70" d="100"/>
        </p:scale>
        <p:origin x="228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kaivalya Gudapati" userId="91c7e84e45e887cc" providerId="LiveId" clId="{5E039AEE-D2E5-40E0-933A-0B122EB2BCBB}"/>
    <pc:docChg chg="modSld">
      <pc:chgData name="Vishnukaivalya Gudapati" userId="91c7e84e45e887cc" providerId="LiveId" clId="{5E039AEE-D2E5-40E0-933A-0B122EB2BCBB}" dt="2024-12-27T12:22:50.042" v="15" actId="20577"/>
      <pc:docMkLst>
        <pc:docMk/>
      </pc:docMkLst>
      <pc:sldChg chg="modSp mod">
        <pc:chgData name="Vishnukaivalya Gudapati" userId="91c7e84e45e887cc" providerId="LiveId" clId="{5E039AEE-D2E5-40E0-933A-0B122EB2BCBB}" dt="2024-12-27T12:22:50.042" v="15" actId="20577"/>
        <pc:sldMkLst>
          <pc:docMk/>
          <pc:sldMk cId="2593974819" sldId="258"/>
        </pc:sldMkLst>
        <pc:spChg chg="mod">
          <ac:chgData name="Vishnukaivalya Gudapati" userId="91c7e84e45e887cc" providerId="LiveId" clId="{5E039AEE-D2E5-40E0-933A-0B122EB2BCBB}" dt="2024-12-27T12:22:50.042" v="15" actId="20577"/>
          <ac:spMkLst>
            <pc:docMk/>
            <pc:sldMk cId="2593974819" sldId="258"/>
            <ac:spMk id="3" creationId="{E74FD084-C691-D248-15D8-416F3C83FF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CBC4E-9BC8-4DE2-A1E0-84D11F4843EC}" type="datetimeFigureOut">
              <a:rPr lang="en-IN" smtClean="0"/>
              <a:t>12-06-2025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236C0-4AED-4849-B5D4-C4C6A2D2D527}" type="slidenum">
              <a:rPr lang="en-IN" smtClean="0"/>
              <a:t>‹#›</a:t>
            </a:fld>
            <a:endParaRPr lang="en-IN"/>
          </a:p>
        </p:txBody>
      </p:sp>
    </p:spTree>
    <p:extLst>
      <p:ext uri="{BB962C8B-B14F-4D97-AF65-F5344CB8AC3E}">
        <p14:creationId xmlns:p14="http://schemas.microsoft.com/office/powerpoint/2010/main" val="302135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50173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88929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49728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17351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E2CF5B-B7F2-46B8-97CC-EF1ADEF759F1}" type="datetimeFigureOut">
              <a:rPr lang="en-IN" smtClean="0"/>
              <a:t>12-06-2025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15645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E2CF5B-B7F2-46B8-97CC-EF1ADEF759F1}" type="datetimeFigureOut">
              <a:rPr lang="en-IN" smtClean="0"/>
              <a:t>12-06-2025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21748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2CF5B-B7F2-46B8-97CC-EF1ADEF759F1}" type="datetimeFigureOut">
              <a:rPr lang="en-IN" smtClean="0"/>
              <a:t>12-06-2025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74340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92762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024997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709071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996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690026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9430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78665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337292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29014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9E2CF5B-B7F2-46B8-97CC-EF1ADEF759F1}" type="datetimeFigureOut">
              <a:rPr lang="en-IN" smtClean="0"/>
              <a:t>12-06-2025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CF37AD0-8CC1-4752-A7D8-C6144AA1DE7F}" type="slidenum">
              <a:rPr lang="en-IN" smtClean="0"/>
              <a:t>‹#›</a:t>
            </a:fld>
            <a:endParaRPr lang="en-IN"/>
          </a:p>
        </p:txBody>
      </p:sp>
    </p:spTree>
    <p:extLst>
      <p:ext uri="{BB962C8B-B14F-4D97-AF65-F5344CB8AC3E}">
        <p14:creationId xmlns:p14="http://schemas.microsoft.com/office/powerpoint/2010/main" val="4993347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472B-C7EE-82DC-53E5-5E0EBBEBC686}"/>
              </a:ext>
            </a:extLst>
          </p:cNvPr>
          <p:cNvSpPr>
            <a:spLocks noGrp="1"/>
          </p:cNvSpPr>
          <p:nvPr>
            <p:ph type="ctrTitle"/>
          </p:nvPr>
        </p:nvSpPr>
        <p:spPr>
          <a:xfrm>
            <a:off x="1785257" y="252550"/>
            <a:ext cx="10154195" cy="2090056"/>
          </a:xfrm>
        </p:spPr>
        <p:txBody>
          <a:bodyPr>
            <a:norm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REVERSIBLE DATA HIDING IN ENCRYPTED IMAGES BASED ON MULTI-MSB PREDICTION AND HUFFMAN CODING </a:t>
            </a:r>
          </a:p>
        </p:txBody>
      </p:sp>
      <p:sp>
        <p:nvSpPr>
          <p:cNvPr id="3" name="Subtitle 2">
            <a:extLst>
              <a:ext uri="{FF2B5EF4-FFF2-40B4-BE49-F238E27FC236}">
                <a16:creationId xmlns:a16="http://schemas.microsoft.com/office/drawing/2014/main" id="{18815C69-FBCA-5254-8703-AD0606C21C6E}"/>
              </a:ext>
            </a:extLst>
          </p:cNvPr>
          <p:cNvSpPr>
            <a:spLocks noGrp="1"/>
          </p:cNvSpPr>
          <p:nvPr>
            <p:ph type="subTitle" idx="1"/>
          </p:nvPr>
        </p:nvSpPr>
        <p:spPr>
          <a:xfrm>
            <a:off x="2168435" y="2899955"/>
            <a:ext cx="9701348" cy="2717074"/>
          </a:xfrm>
        </p:spPr>
        <p:txBody>
          <a:bodyPr>
            <a:normAutofit fontScale="85000" lnSpcReduction="20000"/>
          </a:bodyPr>
          <a:lstStyle/>
          <a:p>
            <a:r>
              <a:rPr lang="en-IN" dirty="0"/>
              <a:t>          </a:t>
            </a:r>
            <a:r>
              <a:rPr lang="en-IN" sz="2200" b="1" dirty="0">
                <a:solidFill>
                  <a:srgbClr val="002060"/>
                </a:solidFill>
                <a:latin typeface="Times New Roman" panose="02020603050405020304" pitchFamily="18" charset="0"/>
                <a:cs typeface="Times New Roman" panose="02020603050405020304" pitchFamily="18" charset="0"/>
              </a:rPr>
              <a:t>GUIDE</a:t>
            </a:r>
          </a:p>
          <a:p>
            <a:r>
              <a:rPr lang="en-IN" sz="2000" b="1" dirty="0">
                <a:solidFill>
                  <a:srgbClr val="FF0000"/>
                </a:solidFill>
                <a:latin typeface="Times New Roman" panose="02020603050405020304" pitchFamily="18" charset="0"/>
                <a:cs typeface="Times New Roman" panose="02020603050405020304" pitchFamily="18" charset="0"/>
              </a:rPr>
              <a:t>Dr.B.HEMANTHA KUMAR</a:t>
            </a:r>
          </a:p>
          <a:p>
            <a:endParaRPr lang="en-IN" sz="2000" b="1" dirty="0">
              <a:solidFill>
                <a:srgbClr val="FF0000"/>
              </a:solidFill>
            </a:endParaRPr>
          </a:p>
          <a:p>
            <a:r>
              <a:rPr lang="en-IN" sz="2000" b="1" dirty="0">
                <a:solidFill>
                  <a:srgbClr val="FF0000"/>
                </a:solidFill>
              </a:rPr>
              <a:t>                                                                                                   </a:t>
            </a:r>
            <a:r>
              <a:rPr lang="en-IN" sz="2200" b="1" dirty="0">
                <a:solidFill>
                  <a:srgbClr val="002060"/>
                </a:solidFill>
                <a:latin typeface="Times New Roman" panose="02020603050405020304" pitchFamily="18" charset="0"/>
                <a:cs typeface="Times New Roman" panose="02020603050405020304" pitchFamily="18" charset="0"/>
              </a:rPr>
              <a:t>TEAM-1</a:t>
            </a:r>
          </a:p>
          <a:p>
            <a:r>
              <a:rPr lang="en-IN" sz="20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G VISHNU KAIVALYA-Y21IT040 </a:t>
            </a:r>
          </a:p>
          <a:p>
            <a:r>
              <a:rPr lang="en-IN" sz="2000" b="1" dirty="0">
                <a:solidFill>
                  <a:srgbClr val="C00000"/>
                </a:solidFill>
                <a:latin typeface="Times New Roman" panose="02020603050405020304" pitchFamily="18" charset="0"/>
                <a:cs typeface="Times New Roman" panose="02020603050405020304" pitchFamily="18" charset="0"/>
              </a:rPr>
              <a:t>                                                                                G B HARSHA VARDHAN-Y21IT039 </a:t>
            </a:r>
          </a:p>
          <a:p>
            <a:r>
              <a:rPr lang="en-IN" sz="2000" b="1" dirty="0">
                <a:solidFill>
                  <a:srgbClr val="C00000"/>
                </a:solidFill>
                <a:latin typeface="Times New Roman" panose="02020603050405020304" pitchFamily="18" charset="0"/>
                <a:cs typeface="Times New Roman" panose="02020603050405020304" pitchFamily="18" charset="0"/>
              </a:rPr>
              <a:t>                                                                                K KIRAN –L22IT138</a:t>
            </a:r>
            <a:endParaRPr lang="en-US" sz="2000" b="1" spc="269" dirty="0">
              <a:solidFill>
                <a:srgbClr val="C00000"/>
              </a:solidFill>
              <a:latin typeface="Times New Roman" panose="02020603050405020304" pitchFamily="18" charset="0"/>
              <a:cs typeface="Times New Roman" panose="02020603050405020304" pitchFamily="18" charset="0"/>
            </a:endParaRPr>
          </a:p>
          <a:p>
            <a:r>
              <a:rPr lang="en-US" sz="2000" b="1" spc="269" dirty="0">
                <a:solidFill>
                  <a:srgbClr val="F35000"/>
                </a:solidFill>
                <a:latin typeface="Century Gothic" panose="020B0502020202020204" pitchFamily="34" charset="0"/>
              </a:rPr>
              <a:t>                                                 </a:t>
            </a:r>
            <a:endParaRPr lang="en-IN" sz="2000" b="1" dirty="0">
              <a:solidFill>
                <a:srgbClr val="FF0000"/>
              </a:solidFill>
            </a:endParaRPr>
          </a:p>
        </p:txBody>
      </p:sp>
    </p:spTree>
    <p:extLst>
      <p:ext uri="{BB962C8B-B14F-4D97-AF65-F5344CB8AC3E}">
        <p14:creationId xmlns:p14="http://schemas.microsoft.com/office/powerpoint/2010/main" val="338293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B443-93B7-7304-C1AD-02A633B9FC16}"/>
              </a:ext>
            </a:extLst>
          </p:cNvPr>
          <p:cNvSpPr>
            <a:spLocks noGrp="1"/>
          </p:cNvSpPr>
          <p:nvPr>
            <p:ph type="title"/>
          </p:nvPr>
        </p:nvSpPr>
        <p:spPr>
          <a:xfrm>
            <a:off x="2658239" y="669332"/>
            <a:ext cx="8911687" cy="870857"/>
          </a:xfrm>
        </p:spPr>
        <p:txBody>
          <a:bodyPr/>
          <a:lstStyle/>
          <a:p>
            <a:r>
              <a:rPr lang="en-IN"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305C27AC-B4F5-C1B6-E41F-A05B493D7B6A}"/>
              </a:ext>
            </a:extLst>
          </p:cNvPr>
          <p:cNvSpPr>
            <a:spLocks noGrp="1"/>
          </p:cNvSpPr>
          <p:nvPr>
            <p:ph idx="1"/>
          </p:nvPr>
        </p:nvSpPr>
        <p:spPr>
          <a:xfrm>
            <a:off x="2654526" y="1540189"/>
            <a:ext cx="8915400" cy="3777622"/>
          </a:xfrm>
        </p:spPr>
        <p:txBody>
          <a:bodyPr/>
          <a:lstStyle/>
          <a:p>
            <a:r>
              <a:rPr lang="en-IN" sz="2400" dirty="0">
                <a:latin typeface="Times New Roman" panose="02020603050405020304" pitchFamily="18" charset="0"/>
                <a:cs typeface="Times New Roman" panose="02020603050405020304" pitchFamily="18" charset="0"/>
              </a:rPr>
              <a:t>Problem Statement</a:t>
            </a:r>
          </a:p>
          <a:p>
            <a:r>
              <a:rPr lang="en-IN" sz="2400" dirty="0">
                <a:latin typeface="Times New Roman" panose="02020603050405020304" pitchFamily="18" charset="0"/>
                <a:cs typeface="Times New Roman" panose="02020603050405020304" pitchFamily="18" charset="0"/>
              </a:rPr>
              <a:t>Keywords</a:t>
            </a:r>
          </a:p>
          <a:p>
            <a:r>
              <a:rPr lang="en-IN" sz="2400" dirty="0">
                <a:latin typeface="Times New Roman" panose="02020603050405020304" pitchFamily="18" charset="0"/>
                <a:cs typeface="Times New Roman" panose="02020603050405020304" pitchFamily="18" charset="0"/>
              </a:rPr>
              <a:t>Existing Methods</a:t>
            </a:r>
          </a:p>
          <a:p>
            <a:r>
              <a:rPr lang="en-IN" sz="2400" dirty="0">
                <a:latin typeface="Times New Roman" panose="02020603050405020304" pitchFamily="18" charset="0"/>
                <a:cs typeface="Times New Roman" panose="02020603050405020304" pitchFamily="18" charset="0"/>
              </a:rPr>
              <a:t>Proposed Method</a:t>
            </a:r>
          </a:p>
          <a:p>
            <a:r>
              <a:rPr lang="en-IN" sz="2400" dirty="0">
                <a:latin typeface="Times New Roman" panose="02020603050405020304" pitchFamily="18" charset="0"/>
                <a:cs typeface="Times New Roman" panose="02020603050405020304" pitchFamily="18" charset="0"/>
              </a:rPr>
              <a:t>References</a:t>
            </a:r>
          </a:p>
          <a:p>
            <a:pPr marL="0" indent="0">
              <a:buNone/>
            </a:pPr>
            <a:endParaRPr lang="en-IN" dirty="0"/>
          </a:p>
        </p:txBody>
      </p:sp>
    </p:spTree>
    <p:extLst>
      <p:ext uri="{BB962C8B-B14F-4D97-AF65-F5344CB8AC3E}">
        <p14:creationId xmlns:p14="http://schemas.microsoft.com/office/powerpoint/2010/main" val="2265626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F023A-DF1D-8B18-D22B-2A75BA74EB67}"/>
              </a:ext>
            </a:extLst>
          </p:cNvPr>
          <p:cNvSpPr>
            <a:spLocks noGrp="1"/>
          </p:cNvSpPr>
          <p:nvPr>
            <p:ph type="title"/>
          </p:nvPr>
        </p:nvSpPr>
        <p:spPr>
          <a:xfrm>
            <a:off x="2111829" y="624110"/>
            <a:ext cx="9392783" cy="838930"/>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74FD084-C691-D248-15D8-416F3C83FF41}"/>
              </a:ext>
            </a:extLst>
          </p:cNvPr>
          <p:cNvSpPr>
            <a:spLocks noGrp="1"/>
          </p:cNvSpPr>
          <p:nvPr>
            <p:ph idx="1"/>
          </p:nvPr>
        </p:nvSpPr>
        <p:spPr>
          <a:xfrm>
            <a:off x="2024743" y="1828800"/>
            <a:ext cx="9479869" cy="408242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Reversible Data Hiding in Encrypted Images (RDHEI) allows embedding secret data into encrypted images while ensuring lossless recovery of both the original image and the hidden data. However, existing methods suffer from limited embedding capacity, data extraction errors, and inefficient space utilization. To address these issues, a Multi-MSB Prediction and Huffman Coding-based RDHEI method is proposed, which enhances embedding capacity and guarantees error-free data extraction and image recovery.</a:t>
            </a:r>
            <a:endParaRPr lang="en-IN" sz="240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97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97E35-60BB-B144-0ADE-F64A23FAF6F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KEYWORDS</a:t>
            </a:r>
          </a:p>
        </p:txBody>
      </p:sp>
      <p:sp>
        <p:nvSpPr>
          <p:cNvPr id="3" name="Content Placeholder 2">
            <a:extLst>
              <a:ext uri="{FF2B5EF4-FFF2-40B4-BE49-F238E27FC236}">
                <a16:creationId xmlns:a16="http://schemas.microsoft.com/office/drawing/2014/main" id="{E1FB7D25-F40C-3D0E-8E8A-D3C318C59ED1}"/>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Reversible data hiding</a:t>
            </a:r>
          </a:p>
          <a:p>
            <a:r>
              <a:rPr lang="en-IN" sz="2400" dirty="0">
                <a:latin typeface="Times New Roman" panose="02020603050405020304" pitchFamily="18" charset="0"/>
                <a:cs typeface="Times New Roman" panose="02020603050405020304" pitchFamily="18" charset="0"/>
              </a:rPr>
              <a:t>Encrypted images</a:t>
            </a:r>
          </a:p>
          <a:p>
            <a:r>
              <a:rPr lang="en-IN" sz="2400" dirty="0">
                <a:latin typeface="Times New Roman" panose="02020603050405020304" pitchFamily="18" charset="0"/>
                <a:cs typeface="Times New Roman" panose="02020603050405020304" pitchFamily="18" charset="0"/>
              </a:rPr>
              <a:t>Privacy protection</a:t>
            </a:r>
          </a:p>
          <a:p>
            <a:r>
              <a:rPr lang="en-IN" sz="2400" dirty="0">
                <a:latin typeface="Times New Roman" panose="02020603050405020304" pitchFamily="18" charset="0"/>
                <a:cs typeface="Times New Roman" panose="02020603050405020304" pitchFamily="18" charset="0"/>
              </a:rPr>
              <a:t>Huffman Coding</a:t>
            </a:r>
          </a:p>
        </p:txBody>
      </p:sp>
    </p:spTree>
    <p:extLst>
      <p:ext uri="{BB962C8B-B14F-4D97-AF65-F5344CB8AC3E}">
        <p14:creationId xmlns:p14="http://schemas.microsoft.com/office/powerpoint/2010/main" val="2761022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571C-2A7A-ADFA-6809-35EA6AC04223}"/>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REVERSIBLE DATA HIDING:</a:t>
            </a:r>
          </a:p>
        </p:txBody>
      </p:sp>
      <p:sp>
        <p:nvSpPr>
          <p:cNvPr id="3" name="Content Placeholder 2">
            <a:extLst>
              <a:ext uri="{FF2B5EF4-FFF2-40B4-BE49-F238E27FC236}">
                <a16:creationId xmlns:a16="http://schemas.microsoft.com/office/drawing/2014/main" id="{56836FAC-2F99-A7F2-366E-45173ED43E50}"/>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This technique allows additional data to be embedded within an image while ensuring that the original image can be perfectly restored without any loss. The embedded data can be extracted without error, maintaining the integrity of the image</a:t>
            </a:r>
            <a:r>
              <a:rPr lang="en-US" dirty="0"/>
              <a:t>.</a:t>
            </a:r>
            <a:endParaRPr lang="en-IN" dirty="0"/>
          </a:p>
        </p:txBody>
      </p:sp>
    </p:spTree>
    <p:extLst>
      <p:ext uri="{BB962C8B-B14F-4D97-AF65-F5344CB8AC3E}">
        <p14:creationId xmlns:p14="http://schemas.microsoft.com/office/powerpoint/2010/main" val="2921599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86F9-3833-68D6-F3AE-F6AFF4F98783}"/>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ENCRYPTED IMAGES</a:t>
            </a:r>
            <a:r>
              <a:rPr lang="en-IN" b="1" dirty="0">
                <a:solidFill>
                  <a:srgbClr val="7030A0"/>
                </a:solidFill>
              </a:rPr>
              <a:t>:</a:t>
            </a:r>
          </a:p>
        </p:txBody>
      </p:sp>
      <p:sp>
        <p:nvSpPr>
          <p:cNvPr id="3" name="Content Placeholder 2">
            <a:extLst>
              <a:ext uri="{FF2B5EF4-FFF2-40B4-BE49-F238E27FC236}">
                <a16:creationId xmlns:a16="http://schemas.microsoft.com/office/drawing/2014/main" id="{E4F68614-A525-CD58-6F02-F6D86DB78076}"/>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Encrypted images are images that have been transformed using encryption algorithms, making them unreadable to unauthorized parties. This ensures the security and privacy of the image content during storage or transmission.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0435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CD66D-F363-3FA7-4161-D40B6BADE466}"/>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PRIVACY PROTECTION</a:t>
            </a:r>
            <a:r>
              <a:rPr lang="en-IN" b="1" dirty="0">
                <a:solidFill>
                  <a:srgbClr val="7030A0"/>
                </a:solidFill>
              </a:rPr>
              <a:t>:</a:t>
            </a:r>
          </a:p>
        </p:txBody>
      </p:sp>
      <p:sp>
        <p:nvSpPr>
          <p:cNvPr id="3" name="Content Placeholder 2">
            <a:extLst>
              <a:ext uri="{FF2B5EF4-FFF2-40B4-BE49-F238E27FC236}">
                <a16:creationId xmlns:a16="http://schemas.microsoft.com/office/drawing/2014/main" id="{7081FFA0-F0D9-AE37-76B3-9C48415D8D1A}"/>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Privacy protection refers to measures taken to safeguard sensitive or personal information from unauthorized access or exposure. In the context of RDHEI, it involves securing the embedded data and image content through encryption.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59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FF8F-86FD-4319-81D6-B42365C9824B}"/>
              </a:ext>
            </a:extLst>
          </p:cNvPr>
          <p:cNvSpPr>
            <a:spLocks noGrp="1"/>
          </p:cNvSpPr>
          <p:nvPr>
            <p:ph type="title"/>
          </p:nvPr>
        </p:nvSpPr>
        <p:spPr/>
        <p:txBody>
          <a:bodyPr/>
          <a:lstStyle/>
          <a:p>
            <a:r>
              <a:rPr lang="en-IN" b="1" dirty="0">
                <a:solidFill>
                  <a:srgbClr val="7030A0"/>
                </a:solidFill>
                <a:latin typeface="Times New Roman" panose="02020603050405020304" pitchFamily="18" charset="0"/>
                <a:cs typeface="Times New Roman" panose="02020603050405020304" pitchFamily="18" charset="0"/>
              </a:rPr>
              <a:t>HUFFMAN CODING:</a:t>
            </a:r>
          </a:p>
        </p:txBody>
      </p:sp>
      <p:sp>
        <p:nvSpPr>
          <p:cNvPr id="3" name="Content Placeholder 2">
            <a:extLst>
              <a:ext uri="{FF2B5EF4-FFF2-40B4-BE49-F238E27FC236}">
                <a16:creationId xmlns:a16="http://schemas.microsoft.com/office/drawing/2014/main" id="{EA98CEFE-57C6-F0CB-C75B-B0FC9F813083}"/>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Huffman coding is a lossless data compression technique that assigns shorter binary codes to more frequent data symbols and longer codes to less frequent ones, efficiently compressing the data while allowing for perfect reconstruction of the original data.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66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3CAC-7401-21FF-6E48-0968CA665D20}"/>
              </a:ext>
            </a:extLst>
          </p:cNvPr>
          <p:cNvSpPr>
            <a:spLocks noGrp="1"/>
          </p:cNvSpPr>
          <p:nvPr>
            <p:ph type="title"/>
          </p:nvPr>
        </p:nvSpPr>
        <p:spPr>
          <a:xfrm>
            <a:off x="1592495" y="624110"/>
            <a:ext cx="9912118" cy="711530"/>
          </a:xfrm>
        </p:spPr>
        <p:txBody>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7" name="Content Placeholder 6">
            <a:extLst>
              <a:ext uri="{FF2B5EF4-FFF2-40B4-BE49-F238E27FC236}">
                <a16:creationId xmlns:a16="http://schemas.microsoft.com/office/drawing/2014/main" id="{4A7751FD-0735-5005-5895-0273FC1269F0}"/>
              </a:ext>
            </a:extLst>
          </p:cNvPr>
          <p:cNvGraphicFramePr>
            <a:graphicFrameLocks noGrp="1"/>
          </p:cNvGraphicFramePr>
          <p:nvPr>
            <p:ph idx="1"/>
            <p:extLst>
              <p:ext uri="{D42A27DB-BD31-4B8C-83A1-F6EECF244321}">
                <p14:modId xmlns:p14="http://schemas.microsoft.com/office/powerpoint/2010/main" val="407315091"/>
              </p:ext>
            </p:extLst>
          </p:nvPr>
        </p:nvGraphicFramePr>
        <p:xfrm>
          <a:off x="1599345" y="1530849"/>
          <a:ext cx="9669546" cy="4899461"/>
        </p:xfrm>
        <a:graphic>
          <a:graphicData uri="http://schemas.openxmlformats.org/drawingml/2006/table">
            <a:tbl>
              <a:tblPr firstRow="1" bandRow="1">
                <a:tableStyleId>{5C22544A-7EE6-4342-B048-85BDC9FD1C3A}</a:tableStyleId>
              </a:tblPr>
              <a:tblGrid>
                <a:gridCol w="2066474">
                  <a:extLst>
                    <a:ext uri="{9D8B030D-6E8A-4147-A177-3AD203B41FA5}">
                      <a16:colId xmlns:a16="http://schemas.microsoft.com/office/drawing/2014/main" val="1238626163"/>
                    </a:ext>
                  </a:extLst>
                </a:gridCol>
                <a:gridCol w="3867026">
                  <a:extLst>
                    <a:ext uri="{9D8B030D-6E8A-4147-A177-3AD203B41FA5}">
                      <a16:colId xmlns:a16="http://schemas.microsoft.com/office/drawing/2014/main" val="636017730"/>
                    </a:ext>
                  </a:extLst>
                </a:gridCol>
                <a:gridCol w="3736046">
                  <a:extLst>
                    <a:ext uri="{9D8B030D-6E8A-4147-A177-3AD203B41FA5}">
                      <a16:colId xmlns:a16="http://schemas.microsoft.com/office/drawing/2014/main" val="2473434736"/>
                    </a:ext>
                  </a:extLst>
                </a:gridCol>
              </a:tblGrid>
              <a:tr h="451093">
                <a:tc>
                  <a:txBody>
                    <a:bodyPr/>
                    <a:lstStyle/>
                    <a:p>
                      <a:r>
                        <a:rPr lang="en-IN" dirty="0"/>
                        <a:t>CONTEXT</a:t>
                      </a:r>
                    </a:p>
                  </a:txBody>
                  <a:tcPr/>
                </a:tc>
                <a:tc>
                  <a:txBody>
                    <a:bodyPr/>
                    <a:lstStyle/>
                    <a:p>
                      <a:r>
                        <a:rPr lang="en-IN" dirty="0"/>
                        <a:t>METHOD-1</a:t>
                      </a:r>
                    </a:p>
                  </a:txBody>
                  <a:tcPr/>
                </a:tc>
                <a:tc>
                  <a:txBody>
                    <a:bodyPr/>
                    <a:lstStyle/>
                    <a:p>
                      <a:r>
                        <a:rPr lang="en-IN" dirty="0"/>
                        <a:t>METHOD-2</a:t>
                      </a:r>
                    </a:p>
                  </a:txBody>
                  <a:tcPr/>
                </a:tc>
                <a:extLst>
                  <a:ext uri="{0D108BD9-81ED-4DB2-BD59-A6C34878D82A}">
                    <a16:rowId xmlns:a16="http://schemas.microsoft.com/office/drawing/2014/main" val="658236203"/>
                  </a:ext>
                </a:extLst>
              </a:tr>
              <a:tr h="1054706">
                <a:tc>
                  <a:txBody>
                    <a:bodyPr/>
                    <a:lstStyle/>
                    <a:p>
                      <a:r>
                        <a:rPr lang="en-IN" dirty="0">
                          <a:latin typeface="Times New Roman" panose="02020603050405020304" pitchFamily="18" charset="0"/>
                          <a:cs typeface="Times New Roman" panose="02020603050405020304" pitchFamily="18" charset="0"/>
                        </a:rPr>
                        <a:t>Name</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Separable and Reversible Data Hiding in Encrypted Images using Parametric Binary Tree Labeling</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0632922"/>
                  </a:ext>
                </a:extLst>
              </a:tr>
              <a:tr h="528925">
                <a:tc>
                  <a:txBody>
                    <a:bodyPr/>
                    <a:lstStyle/>
                    <a:p>
                      <a:r>
                        <a:rPr lang="en-IN" dirty="0">
                          <a:latin typeface="Times New Roman" panose="02020603050405020304" pitchFamily="18" charset="0"/>
                          <a:cs typeface="Times New Roman" panose="02020603050405020304" pitchFamily="18" charset="0"/>
                        </a:rPr>
                        <a:t>Author</a:t>
                      </a:r>
                    </a:p>
                  </a:txBody>
                  <a:tcPr/>
                </a:tc>
                <a:tc>
                  <a:txBody>
                    <a:bodyPr/>
                    <a:lstStyle/>
                    <a:p>
                      <a:r>
                        <a:rPr lang="en-US" dirty="0">
                          <a:latin typeface="Times New Roman" panose="02020603050405020304" pitchFamily="18" charset="0"/>
                          <a:cs typeface="Times New Roman" panose="02020603050405020304" pitchFamily="18" charset="0"/>
                        </a:rPr>
                        <a:t>P. Puteaux &amp; W. Puech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 .Yi &amp; Y. Zhou</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9565012"/>
                  </a:ext>
                </a:extLst>
              </a:tr>
              <a:tr h="910241">
                <a:tc>
                  <a:txBody>
                    <a:bodyPr/>
                    <a:lstStyle/>
                    <a:p>
                      <a:r>
                        <a:rPr lang="en-IN" dirty="0">
                          <a:latin typeface="Times New Roman" panose="02020603050405020304" pitchFamily="18" charset="0"/>
                          <a:cs typeface="Times New Roman" panose="02020603050405020304" pitchFamily="18" charset="0"/>
                        </a:rPr>
                        <a:t>Uses</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Privacy protection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data communication</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Reversible data hiding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water marking</a:t>
                      </a:r>
                    </a:p>
                  </a:txBody>
                  <a:tcPr/>
                </a:tc>
                <a:extLst>
                  <a:ext uri="{0D108BD9-81ED-4DB2-BD59-A6C34878D82A}">
                    <a16:rowId xmlns:a16="http://schemas.microsoft.com/office/drawing/2014/main" val="3092888860"/>
                  </a:ext>
                </a:extLst>
              </a:tr>
              <a:tr h="910241">
                <a:tc>
                  <a:txBody>
                    <a:bodyPr/>
                    <a:lstStyle/>
                    <a:p>
                      <a:r>
                        <a:rPr lang="en-IN" dirty="0">
                          <a:latin typeface="Times New Roman" panose="02020603050405020304" pitchFamily="18" charset="0"/>
                          <a:cs typeface="Times New Roman" panose="02020603050405020304" pitchFamily="18" charset="0"/>
                        </a:rPr>
                        <a:t>Advantages</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Lossless image recovery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 embedding capacity</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Lossless image restoration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Enhanced security</a:t>
                      </a:r>
                    </a:p>
                  </a:txBody>
                  <a:tcPr/>
                </a:tc>
                <a:extLst>
                  <a:ext uri="{0D108BD9-81ED-4DB2-BD59-A6C34878D82A}">
                    <a16:rowId xmlns:a16="http://schemas.microsoft.com/office/drawing/2014/main" val="3748003508"/>
                  </a:ext>
                </a:extLst>
              </a:tr>
              <a:tr h="910241">
                <a:tc>
                  <a:txBody>
                    <a:bodyPr/>
                    <a:lstStyle/>
                    <a:p>
                      <a:r>
                        <a:rPr lang="en-IN" dirty="0">
                          <a:latin typeface="Times New Roman" panose="02020603050405020304" pitchFamily="18" charset="0"/>
                          <a:cs typeface="Times New Roman" panose="02020603050405020304" pitchFamily="18" charset="0"/>
                        </a:rPr>
                        <a:t>Disadvantages</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Key dependency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Complexity </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Key dependency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Computational complexity</a:t>
                      </a:r>
                    </a:p>
                  </a:txBody>
                  <a:tcPr/>
                </a:tc>
                <a:extLst>
                  <a:ext uri="{0D108BD9-81ED-4DB2-BD59-A6C34878D82A}">
                    <a16:rowId xmlns:a16="http://schemas.microsoft.com/office/drawing/2014/main" val="1997969451"/>
                  </a:ext>
                </a:extLst>
              </a:tr>
            </a:tbl>
          </a:graphicData>
        </a:graphic>
      </p:graphicFrame>
    </p:spTree>
    <p:extLst>
      <p:ext uri="{BB962C8B-B14F-4D97-AF65-F5344CB8AC3E}">
        <p14:creationId xmlns:p14="http://schemas.microsoft.com/office/powerpoint/2010/main" val="104204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B198B-C20F-F7A8-FA60-8B4B0FC75B02}"/>
              </a:ext>
            </a:extLst>
          </p:cNvPr>
          <p:cNvSpPr>
            <a:spLocks noGrp="1"/>
          </p:cNvSpPr>
          <p:nvPr>
            <p:ph type="title"/>
          </p:nvPr>
        </p:nvSpPr>
        <p:spPr>
          <a:xfrm>
            <a:off x="2239767" y="624110"/>
            <a:ext cx="9264846" cy="1280890"/>
          </a:xfrm>
        </p:spPr>
        <p:txBody>
          <a:bodyPr/>
          <a:lstStyle/>
          <a:p>
            <a:r>
              <a:rPr lang="en-IN" b="1" dirty="0">
                <a:latin typeface="Times New Roman" panose="02020603050405020304" pitchFamily="18" charset="0"/>
                <a:cs typeface="Times New Roman" panose="02020603050405020304" pitchFamily="18" charset="0"/>
              </a:rPr>
              <a:t>PROPOSED METHOD</a:t>
            </a:r>
          </a:p>
        </p:txBody>
      </p:sp>
      <p:pic>
        <p:nvPicPr>
          <p:cNvPr id="3" name="Picture 2">
            <a:extLst>
              <a:ext uri="{FF2B5EF4-FFF2-40B4-BE49-F238E27FC236}">
                <a16:creationId xmlns:a16="http://schemas.microsoft.com/office/drawing/2014/main" id="{3583C024-BAE3-78DA-928E-9AFDCC7CF6D1}"/>
              </a:ext>
            </a:extLst>
          </p:cNvPr>
          <p:cNvPicPr>
            <a:picLocks noChangeAspect="1"/>
          </p:cNvPicPr>
          <p:nvPr/>
        </p:nvPicPr>
        <p:blipFill>
          <a:blip r:embed="rId2"/>
          <a:stretch>
            <a:fillRect/>
          </a:stretch>
        </p:blipFill>
        <p:spPr>
          <a:xfrm>
            <a:off x="768111" y="1465360"/>
            <a:ext cx="10971633" cy="5114102"/>
          </a:xfrm>
          <a:prstGeom prst="rect">
            <a:avLst/>
          </a:prstGeom>
        </p:spPr>
      </p:pic>
      <p:sp>
        <p:nvSpPr>
          <p:cNvPr id="6" name="Content Placeholder 5">
            <a:extLst>
              <a:ext uri="{FF2B5EF4-FFF2-40B4-BE49-F238E27FC236}">
                <a16:creationId xmlns:a16="http://schemas.microsoft.com/office/drawing/2014/main" id="{0EC3419A-5E5F-B889-46C6-D49A319B5C5C}"/>
              </a:ext>
            </a:extLst>
          </p:cNvPr>
          <p:cNvSpPr>
            <a:spLocks noGrp="1"/>
          </p:cNvSpPr>
          <p:nvPr>
            <p:ph idx="1"/>
          </p:nvPr>
        </p:nvSpPr>
        <p:spPr>
          <a:xfrm>
            <a:off x="768111" y="1465360"/>
            <a:ext cx="10971633" cy="5114101"/>
          </a:xfrm>
        </p:spPr>
        <p:txBody>
          <a:bodyPr/>
          <a:lstStyle/>
          <a:p>
            <a:endParaRPr lang="en-IN" dirty="0"/>
          </a:p>
        </p:txBody>
      </p:sp>
    </p:spTree>
    <p:extLst>
      <p:ext uri="{BB962C8B-B14F-4D97-AF65-F5344CB8AC3E}">
        <p14:creationId xmlns:p14="http://schemas.microsoft.com/office/powerpoint/2010/main" val="224474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F5A8-55AA-54E5-199B-7956577716D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A2EC1FC-80C8-6776-1E47-89DC31C3591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r>
              <a:rPr lang="en-US" dirty="0">
                <a:latin typeface="Times New Roman" panose="02020603050405020304" pitchFamily="18" charset="0"/>
                <a:cs typeface="Times New Roman" panose="02020603050405020304" pitchFamily="18" charset="0"/>
              </a:rPr>
              <a:t>,” IEEE Trans. Inf. Forensics </a:t>
            </a:r>
            <a:r>
              <a:rPr lang="en-US" dirty="0" err="1">
                <a:latin typeface="Times New Roman" panose="02020603050405020304" pitchFamily="18" charset="0"/>
                <a:cs typeface="Times New Roman" panose="02020603050405020304" pitchFamily="18" charset="0"/>
              </a:rPr>
              <a:t>Secur</a:t>
            </a:r>
            <a:r>
              <a:rPr lang="en-US" dirty="0">
                <a:latin typeface="Times New Roman" panose="02020603050405020304" pitchFamily="18" charset="0"/>
                <a:cs typeface="Times New Roman" panose="02020603050405020304" pitchFamily="18" charset="0"/>
              </a:rPr>
              <a:t>., vol. 13, no. 7, pp. 1067–1681, Jan. 2018.</a:t>
            </a:r>
          </a:p>
          <a:p>
            <a:r>
              <a:rPr lang="en-US" dirty="0">
                <a:latin typeface="Times New Roman" panose="02020603050405020304" pitchFamily="18" charset="0"/>
                <a:cs typeface="Times New Roman" panose="02020603050405020304" pitchFamily="18" charset="0"/>
              </a:rPr>
              <a:t>S .Yi and Y. Zhou, “</a:t>
            </a:r>
            <a:r>
              <a:rPr lang="en-US" b="1" dirty="0">
                <a:latin typeface="Times New Roman" panose="02020603050405020304" pitchFamily="18" charset="0"/>
                <a:cs typeface="Times New Roman" panose="02020603050405020304" pitchFamily="18" charset="0"/>
              </a:rPr>
              <a:t>Separable and reversible data hiding in encrypted images using parametric binary tree labeling</a:t>
            </a:r>
            <a:r>
              <a:rPr lang="en-US" dirty="0">
                <a:latin typeface="Times New Roman" panose="02020603050405020304" pitchFamily="18" charset="0"/>
                <a:cs typeface="Times New Roman" panose="02020603050405020304" pitchFamily="18" charset="0"/>
              </a:rPr>
              <a:t>,” IEEE Trans. Multimedia, vol. 21, no. 1, pp. 51–64, Jan. 2019</a:t>
            </a:r>
            <a:r>
              <a:rPr lang="en-US" dirty="0"/>
              <a:t>.</a:t>
            </a:r>
          </a:p>
          <a:p>
            <a:r>
              <a:rPr lang="en-US" dirty="0">
                <a:latin typeface="Times New Roman" panose="02020603050405020304" pitchFamily="18" charset="0"/>
                <a:cs typeface="Times New Roman" panose="02020603050405020304" pitchFamily="18" charset="0"/>
              </a:rPr>
              <a:t>K. Chen and C. C. Chang, “</a:t>
            </a:r>
            <a:r>
              <a:rPr lang="en-US" b="1" dirty="0">
                <a:latin typeface="Times New Roman" panose="02020603050405020304" pitchFamily="18" charset="0"/>
                <a:cs typeface="Times New Roman" panose="02020603050405020304" pitchFamily="18" charset="0"/>
              </a:rPr>
              <a:t>High-capacity reversible data hiding in encrypted images based on extended run-length coding and block-based MSB plane rearrangement,” </a:t>
            </a:r>
            <a:r>
              <a:rPr lang="en-US" dirty="0">
                <a:latin typeface="Times New Roman" panose="02020603050405020304" pitchFamily="18" charset="0"/>
                <a:cs typeface="Times New Roman" panose="02020603050405020304" pitchFamily="18" charset="0"/>
              </a:rPr>
              <a:t>J. Vis. Commun. Image Representation, vol. 58, pp. 334–344, 2019</a:t>
            </a:r>
            <a:r>
              <a:rPr lang="en-US" dirty="0"/>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549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9569-B205-F995-4003-0F751466AAFA}"/>
              </a:ext>
            </a:extLst>
          </p:cNvPr>
          <p:cNvSpPr>
            <a:spLocks noGrp="1"/>
          </p:cNvSpPr>
          <p:nvPr>
            <p:ph type="title"/>
          </p:nvPr>
        </p:nvSpPr>
        <p:spPr>
          <a:xfrm>
            <a:off x="2592924" y="624109"/>
            <a:ext cx="8911687" cy="4821193"/>
          </a:xfrm>
        </p:spPr>
        <p:txBody>
          <a:bodyPr>
            <a:normAutofit fontScale="90000"/>
          </a:bodyPr>
          <a:lstStyle/>
          <a:p>
            <a:r>
              <a:rPr lang="en-IN" dirty="0"/>
              <a:t> </a:t>
            </a:r>
            <a:br>
              <a:rPr lang="en-IN" dirty="0"/>
            </a:br>
            <a:br>
              <a:rPr lang="en-IN" dirty="0"/>
            </a:br>
            <a:br>
              <a:rPr lang="en-IN" dirty="0"/>
            </a:br>
            <a:br>
              <a:rPr lang="en-IN" dirty="0"/>
            </a:br>
            <a:r>
              <a:rPr lang="en-IN" dirty="0"/>
              <a:t>          </a:t>
            </a:r>
            <a:r>
              <a:rPr lang="en-IN" sz="8000" b="1" dirty="0">
                <a:latin typeface="Baskerville Old Face" panose="02020602080505020303" pitchFamily="18" charset="0"/>
              </a:rPr>
              <a:t>THANK YOU</a:t>
            </a:r>
            <a:br>
              <a:rPr lang="en-IN" sz="8000" b="1" dirty="0">
                <a:latin typeface="Baskerville Old Face" panose="02020602080505020303" pitchFamily="18" charset="0"/>
              </a:rPr>
            </a:br>
            <a:br>
              <a:rPr lang="en-IN" sz="8000" b="1" dirty="0">
                <a:latin typeface="Baskerville Old Face" panose="02020602080505020303" pitchFamily="18" charset="0"/>
              </a:rPr>
            </a:br>
            <a:br>
              <a:rPr lang="en-IN" dirty="0"/>
            </a:br>
            <a:br>
              <a:rPr lang="en-IN" dirty="0"/>
            </a:br>
            <a:br>
              <a:rPr lang="en-IN" dirty="0"/>
            </a:br>
            <a:br>
              <a:rPr lang="en-IN" dirty="0"/>
            </a:br>
            <a:br>
              <a:rPr lang="en-IN" dirty="0"/>
            </a:br>
            <a:br>
              <a:rPr lang="en-IN" dirty="0"/>
            </a:br>
            <a:endParaRPr lang="en-IN" dirty="0"/>
          </a:p>
        </p:txBody>
      </p:sp>
    </p:spTree>
    <p:extLst>
      <p:ext uri="{BB962C8B-B14F-4D97-AF65-F5344CB8AC3E}">
        <p14:creationId xmlns:p14="http://schemas.microsoft.com/office/powerpoint/2010/main" val="1094831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118</TotalTime>
  <Words>538</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Baskerville Old Face</vt:lpstr>
      <vt:lpstr>Calibri</vt:lpstr>
      <vt:lpstr>Century Gothic</vt:lpstr>
      <vt:lpstr>Times New Roman</vt:lpstr>
      <vt:lpstr>Wingdings 3</vt:lpstr>
      <vt:lpstr>Wisp</vt:lpstr>
      <vt:lpstr>REVERSIBLE DATA HIDING IN ENCRYPTED IMAGES BASED ON MULTI-MSB PREDICTION AND HUFFMAN CODING </vt:lpstr>
      <vt:lpstr>CONTENTS</vt:lpstr>
      <vt:lpstr>PROBLEM STATEMENT</vt:lpstr>
      <vt:lpstr>KEYWORDS</vt:lpstr>
      <vt:lpstr>REVERSIBLE DATA HIDING:</vt:lpstr>
      <vt:lpstr>ENCRYPTED IMAGES:</vt:lpstr>
      <vt:lpstr>PRIVACY PROTECTION:</vt:lpstr>
      <vt:lpstr>HUFFMAN CODING:</vt:lpstr>
      <vt:lpstr>LITERATURE SURVEY</vt:lpstr>
      <vt:lpstr>PROPOSED METHOD</vt:lpstr>
      <vt:lpstr>REFERENCES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Vishnukaivalya Gudapati</dc:creator>
  <cp:lastModifiedBy>Vishnukaivalya Gudapati</cp:lastModifiedBy>
  <cp:revision>5</cp:revision>
  <dcterms:created xsi:type="dcterms:W3CDTF">2024-12-26T14:17:33Z</dcterms:created>
  <dcterms:modified xsi:type="dcterms:W3CDTF">2025-06-12T06:51:55Z</dcterms:modified>
</cp:coreProperties>
</file>